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4"/>
  </p:notesMasterIdLst>
  <p:sldIdLst>
    <p:sldId id="256" r:id="rId2"/>
    <p:sldId id="257" r:id="rId3"/>
    <p:sldId id="258" r:id="rId4"/>
    <p:sldId id="296" r:id="rId5"/>
    <p:sldId id="261" r:id="rId6"/>
    <p:sldId id="262" r:id="rId7"/>
    <p:sldId id="263" r:id="rId8"/>
    <p:sldId id="264" r:id="rId9"/>
    <p:sldId id="305" r:id="rId10"/>
    <p:sldId id="308" r:id="rId11"/>
    <p:sldId id="307" r:id="rId12"/>
    <p:sldId id="306" r:id="rId13"/>
    <p:sldId id="265" r:id="rId14"/>
    <p:sldId id="300" r:id="rId15"/>
    <p:sldId id="302" r:id="rId16"/>
    <p:sldId id="304" r:id="rId17"/>
    <p:sldId id="303" r:id="rId18"/>
    <p:sldId id="309" r:id="rId19"/>
    <p:sldId id="310" r:id="rId20"/>
    <p:sldId id="311" r:id="rId21"/>
    <p:sldId id="266" r:id="rId22"/>
    <p:sldId id="268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Archivo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" panose="02040503050406030204" pitchFamily="18" charset="0"/>
      <p:regular r:id="rId35"/>
      <p:bold r:id="rId36"/>
      <p:italic r:id="rId37"/>
      <p:boldItalic r:id="rId38"/>
    </p:embeddedFont>
    <p:embeddedFont>
      <p:font typeface="Open Sans" panose="020B0604020202020204" charset="0"/>
      <p:regular r:id="rId39"/>
      <p:bold r:id="rId40"/>
      <p:italic r:id="rId41"/>
      <p:boldItalic r:id="rId42"/>
    </p:embeddedFont>
    <p:embeddedFont>
      <p:font typeface="PT Sans" panose="020B0604020202020204" charset="0"/>
      <p:regular r:id="rId43"/>
      <p:bold r:id="rId44"/>
      <p:italic r:id="rId45"/>
      <p:boldItalic r:id="rId46"/>
    </p:embeddedFont>
    <p:embeddedFont>
      <p:font typeface="Raleway" panose="020B060402020202020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C4B4"/>
    <a:srgbClr val="191919"/>
    <a:srgbClr val="D6CC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4E81BE-DEED-4EEA-84C1-08147D4ADB78}">
  <a:tblStyle styleId="{954E81BE-DEED-4EEA-84C1-08147D4ADB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D0E425E-B5C5-48B8-92AF-0F6466699A0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83" d="100"/>
          <a:sy n="83" d="100"/>
        </p:scale>
        <p:origin x="80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font" Target="fonts/font2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font" Target="fonts/font17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7a62897eb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7a62897eb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8dfac31a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78dfac31a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7a62897eb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7a62897eb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8dfac31a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78dfac31a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336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8dfac31a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8dfac31ac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8dfac31a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8dfac31a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8dfac31ac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8dfac31ac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5665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4865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5388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384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7140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6059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241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727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8094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3629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fac31a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fac31a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75836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78dfac31a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78dfac31a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78dfac31a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78dfac31a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58650" y="75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0" y="906650"/>
            <a:ext cx="7084800" cy="20667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95675"/>
            <a:ext cx="2721300" cy="73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3699274" y="2650350"/>
            <a:ext cx="2505600" cy="14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720000" y="2650350"/>
            <a:ext cx="2505600" cy="14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720000" y="2113902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3699275" y="2113902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7088800" y="539500"/>
            <a:ext cx="20553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217300" y="1838150"/>
            <a:ext cx="6926700" cy="1467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473500" y="1189100"/>
            <a:ext cx="6670500" cy="1964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473500" y="3153500"/>
            <a:ext cx="36756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/>
          <p:nvPr/>
        </p:nvSpPr>
        <p:spPr>
          <a:xfrm>
            <a:off x="0" y="100"/>
            <a:ext cx="2055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843075" y="75"/>
            <a:ext cx="4301100" cy="357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0" y="1442700"/>
            <a:ext cx="6576000" cy="1628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713225" y="3275225"/>
            <a:ext cx="58629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6868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454700" y="146867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026804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1454700" y="202679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2584927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1454700" y="258492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14305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1454700" y="314304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3701177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1454700" y="370117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4" hasCustomPrompt="1"/>
          </p:nvPr>
        </p:nvSpPr>
        <p:spPr>
          <a:xfrm>
            <a:off x="720000" y="425930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5"/>
          </p:nvPr>
        </p:nvSpPr>
        <p:spPr>
          <a:xfrm>
            <a:off x="1454700" y="425929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5242425" y="-150"/>
            <a:ext cx="3901500" cy="16404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1"/>
          </p:nvPr>
        </p:nvSpPr>
        <p:spPr>
          <a:xfrm>
            <a:off x="720000" y="2798600"/>
            <a:ext cx="2236500" cy="18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3338423" y="2798600"/>
            <a:ext cx="2236500" cy="18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3"/>
          </p:nvPr>
        </p:nvSpPr>
        <p:spPr>
          <a:xfrm>
            <a:off x="5956847" y="2798600"/>
            <a:ext cx="2236500" cy="18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720000" y="2103375"/>
            <a:ext cx="2236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5"/>
          </p:nvPr>
        </p:nvSpPr>
        <p:spPr>
          <a:xfrm>
            <a:off x="3338419" y="2103375"/>
            <a:ext cx="2236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5956838" y="2103375"/>
            <a:ext cx="2236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/>
          <p:nvPr/>
        </p:nvSpPr>
        <p:spPr>
          <a:xfrm>
            <a:off x="0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1"/>
          </p:nvPr>
        </p:nvSpPr>
        <p:spPr>
          <a:xfrm>
            <a:off x="1800525" y="1735625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2"/>
          </p:nvPr>
        </p:nvSpPr>
        <p:spPr>
          <a:xfrm>
            <a:off x="5314500" y="1735625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3"/>
          </p:nvPr>
        </p:nvSpPr>
        <p:spPr>
          <a:xfrm>
            <a:off x="1800525" y="3396200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4"/>
          </p:nvPr>
        </p:nvSpPr>
        <p:spPr>
          <a:xfrm>
            <a:off x="5314500" y="3396200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5"/>
          </p:nvPr>
        </p:nvSpPr>
        <p:spPr>
          <a:xfrm>
            <a:off x="1800526" y="12858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6"/>
          </p:nvPr>
        </p:nvSpPr>
        <p:spPr>
          <a:xfrm>
            <a:off x="1800526" y="29466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7"/>
          </p:nvPr>
        </p:nvSpPr>
        <p:spPr>
          <a:xfrm>
            <a:off x="5314475" y="12858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8"/>
          </p:nvPr>
        </p:nvSpPr>
        <p:spPr>
          <a:xfrm>
            <a:off x="5314475" y="29466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6058450" y="-150"/>
            <a:ext cx="3085500" cy="28737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720000" y="171016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2"/>
          </p:nvPr>
        </p:nvSpPr>
        <p:spPr>
          <a:xfrm>
            <a:off x="3455250" y="171016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3"/>
          </p:nvPr>
        </p:nvSpPr>
        <p:spPr>
          <a:xfrm>
            <a:off x="720000" y="3440454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4"/>
          </p:nvPr>
        </p:nvSpPr>
        <p:spPr>
          <a:xfrm>
            <a:off x="3455250" y="3440454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5"/>
          </p:nvPr>
        </p:nvSpPr>
        <p:spPr>
          <a:xfrm>
            <a:off x="6190500" y="171016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6"/>
          </p:nvPr>
        </p:nvSpPr>
        <p:spPr>
          <a:xfrm>
            <a:off x="6190500" y="3440454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7"/>
          </p:nvPr>
        </p:nvSpPr>
        <p:spPr>
          <a:xfrm>
            <a:off x="720000" y="1336275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8"/>
          </p:nvPr>
        </p:nvSpPr>
        <p:spPr>
          <a:xfrm>
            <a:off x="3455250" y="1336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9"/>
          </p:nvPr>
        </p:nvSpPr>
        <p:spPr>
          <a:xfrm>
            <a:off x="6190500" y="1336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13"/>
          </p:nvPr>
        </p:nvSpPr>
        <p:spPr>
          <a:xfrm>
            <a:off x="720000" y="3063351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4"/>
          </p:nvPr>
        </p:nvSpPr>
        <p:spPr>
          <a:xfrm>
            <a:off x="3455250" y="3063356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15"/>
          </p:nvPr>
        </p:nvSpPr>
        <p:spPr>
          <a:xfrm>
            <a:off x="6190500" y="3063356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bg>
      <p:bgPr>
        <a:solidFill>
          <a:schemeClr val="dk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6182100" y="-150"/>
            <a:ext cx="29622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21"/>
          <p:cNvSpPr txBox="1">
            <a:spLocks noGrp="1"/>
          </p:cNvSpPr>
          <p:nvPr>
            <p:ph type="title" hasCustomPrompt="1"/>
          </p:nvPr>
        </p:nvSpPr>
        <p:spPr>
          <a:xfrm>
            <a:off x="2077174" y="3316475"/>
            <a:ext cx="7067100" cy="7689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1"/>
          </p:nvPr>
        </p:nvSpPr>
        <p:spPr>
          <a:xfrm>
            <a:off x="2077174" y="4227800"/>
            <a:ext cx="4095000" cy="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title" idx="2" hasCustomPrompt="1"/>
          </p:nvPr>
        </p:nvSpPr>
        <p:spPr>
          <a:xfrm>
            <a:off x="2077174" y="539500"/>
            <a:ext cx="7067100" cy="7689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3"/>
          </p:nvPr>
        </p:nvSpPr>
        <p:spPr>
          <a:xfrm>
            <a:off x="2077174" y="1450800"/>
            <a:ext cx="4095000" cy="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title" idx="4" hasCustomPrompt="1"/>
          </p:nvPr>
        </p:nvSpPr>
        <p:spPr>
          <a:xfrm>
            <a:off x="2077174" y="1927988"/>
            <a:ext cx="7067100" cy="7689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1"/>
          <p:cNvSpPr txBox="1">
            <a:spLocks noGrp="1"/>
          </p:cNvSpPr>
          <p:nvPr>
            <p:ph type="subTitle" idx="5"/>
          </p:nvPr>
        </p:nvSpPr>
        <p:spPr>
          <a:xfrm>
            <a:off x="2077174" y="2839300"/>
            <a:ext cx="4095000" cy="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0" y="75"/>
            <a:ext cx="5003100" cy="460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/>
          <p:nvPr/>
        </p:nvSpPr>
        <p:spPr>
          <a:xfrm>
            <a:off x="0" y="915000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4" r:id="rId10"/>
    <p:sldLayoutId id="2147483665" r:id="rId11"/>
    <p:sldLayoutId id="2147483666" r:id="rId12"/>
    <p:sldLayoutId id="2147483667" r:id="rId13"/>
    <p:sldLayoutId id="2147483669" r:id="rId14"/>
    <p:sldLayoutId id="2147483670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>
            <a:spLocks noGrp="1"/>
          </p:cNvSpPr>
          <p:nvPr>
            <p:ph type="ctrTitle"/>
          </p:nvPr>
        </p:nvSpPr>
        <p:spPr>
          <a:xfrm>
            <a:off x="-1" y="906650"/>
            <a:ext cx="8120743" cy="2066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8229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300" dirty="0"/>
              <a:t>MUTUAL FUND ANALYTICS PLATFORM</a:t>
            </a:r>
            <a:endParaRPr spc="300" dirty="0"/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1"/>
          </p:nvPr>
        </p:nvSpPr>
        <p:spPr>
          <a:xfrm>
            <a:off x="789425" y="2530514"/>
            <a:ext cx="2721300" cy="7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dirty="0"/>
              <a:t>BLUESTOCK FINTECH CAPSTONE PROJECT</a:t>
            </a:r>
            <a:endParaRPr sz="900" dirty="0"/>
          </a:p>
        </p:txBody>
      </p:sp>
      <p:sp>
        <p:nvSpPr>
          <p:cNvPr id="4" name="Google Shape;144;p28">
            <a:extLst>
              <a:ext uri="{FF2B5EF4-FFF2-40B4-BE49-F238E27FC236}">
                <a16:creationId xmlns:a16="http://schemas.microsoft.com/office/drawing/2014/main" id="{EB8F0791-5D84-46BD-9364-3C4FBFB04040}"/>
              </a:ext>
            </a:extLst>
          </p:cNvPr>
          <p:cNvSpPr txBox="1">
            <a:spLocks/>
          </p:cNvSpPr>
          <p:nvPr/>
        </p:nvSpPr>
        <p:spPr>
          <a:xfrm>
            <a:off x="5633277" y="2973350"/>
            <a:ext cx="7375153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n-IN" sz="800" dirty="0"/>
              <a:t>End To End Data Engineering – </a:t>
            </a:r>
            <a:r>
              <a:rPr lang="en-IN" sz="800" dirty="0" err="1"/>
              <a:t>Etl</a:t>
            </a:r>
            <a:r>
              <a:rPr lang="en-IN" sz="800" dirty="0"/>
              <a:t> Pipeline- Interactive dashboard</a:t>
            </a:r>
          </a:p>
        </p:txBody>
      </p:sp>
      <p:sp>
        <p:nvSpPr>
          <p:cNvPr id="5" name="Google Shape;144;p28">
            <a:extLst>
              <a:ext uri="{FF2B5EF4-FFF2-40B4-BE49-F238E27FC236}">
                <a16:creationId xmlns:a16="http://schemas.microsoft.com/office/drawing/2014/main" id="{265E026A-83AD-482A-A75E-6F2E716519C7}"/>
              </a:ext>
            </a:extLst>
          </p:cNvPr>
          <p:cNvSpPr txBox="1">
            <a:spLocks/>
          </p:cNvSpPr>
          <p:nvPr/>
        </p:nvSpPr>
        <p:spPr>
          <a:xfrm>
            <a:off x="5633277" y="4236850"/>
            <a:ext cx="2721300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n-IN" sz="900" dirty="0"/>
              <a:t>- SHEVANIGA S </a:t>
            </a:r>
          </a:p>
          <a:p>
            <a:pPr marL="0" indent="0"/>
            <a:endParaRPr lang="en-IN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720000" y="164241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 STATEMENT AND OBJECTIVE</a:t>
            </a:r>
            <a:endParaRPr dirty="0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D3BFD681-0649-45DE-9E95-A65B77CC7B9F}"/>
              </a:ext>
            </a:extLst>
          </p:cNvPr>
          <p:cNvSpPr/>
          <p:nvPr/>
        </p:nvSpPr>
        <p:spPr>
          <a:xfrm>
            <a:off x="365760" y="1143000"/>
            <a:ext cx="8412480" cy="685801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32DB3D78-2FE7-4FB6-B20A-10D9D47B6737}"/>
              </a:ext>
            </a:extLst>
          </p:cNvPr>
          <p:cNvSpPr/>
          <p:nvPr/>
        </p:nvSpPr>
        <p:spPr>
          <a:xfrm>
            <a:off x="365760" y="1143000"/>
            <a:ext cx="502920" cy="685801"/>
          </a:xfrm>
          <a:prstGeom prst="roundRect">
            <a:avLst>
              <a:gd name="adj" fmla="val 12727"/>
            </a:avLst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C173DC22-454F-4E46-95A3-BD7C7A3306FE}"/>
              </a:ext>
            </a:extLst>
          </p:cNvPr>
          <p:cNvSpPr/>
          <p:nvPr/>
        </p:nvSpPr>
        <p:spPr>
          <a:xfrm>
            <a:off x="365760" y="1307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008CFF3D-4BD1-4DCF-A0D0-1BE1753AA642}"/>
              </a:ext>
            </a:extLst>
          </p:cNvPr>
          <p:cNvSpPr/>
          <p:nvPr/>
        </p:nvSpPr>
        <p:spPr>
          <a:xfrm>
            <a:off x="987552" y="1197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923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Data Fragmentation</a:t>
            </a: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5A5BDBAF-9DE2-4210-9FAD-8C6ACE50A06C}"/>
              </a:ext>
            </a:extLst>
          </p:cNvPr>
          <p:cNvSpPr/>
          <p:nvPr/>
        </p:nvSpPr>
        <p:spPr>
          <a:xfrm>
            <a:off x="987552" y="14904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NAV, AUM, SIP and holdings data scattered across different AMFI formats</a:t>
            </a:r>
            <a:endParaRPr lang="en-US" sz="105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7AF80FF0-43B7-41C6-AAE6-75C502BCFE57}"/>
              </a:ext>
            </a:extLst>
          </p:cNvPr>
          <p:cNvSpPr/>
          <p:nvPr/>
        </p:nvSpPr>
        <p:spPr>
          <a:xfrm>
            <a:off x="365760" y="1911096"/>
            <a:ext cx="8412480" cy="685801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9" name="Shape 8">
            <a:extLst>
              <a:ext uri="{FF2B5EF4-FFF2-40B4-BE49-F238E27FC236}">
                <a16:creationId xmlns:a16="http://schemas.microsoft.com/office/drawing/2014/main" id="{8F1CB52D-E8E3-47A5-A195-0D2442D92E85}"/>
              </a:ext>
            </a:extLst>
          </p:cNvPr>
          <p:cNvSpPr/>
          <p:nvPr/>
        </p:nvSpPr>
        <p:spPr>
          <a:xfrm>
            <a:off x="365760" y="1911096"/>
            <a:ext cx="502920" cy="685801"/>
          </a:xfrm>
          <a:prstGeom prst="roundRect">
            <a:avLst>
              <a:gd name="adj" fmla="val 12727"/>
            </a:avLst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85E2EDC0-9456-4B9A-AC95-6EB8687AB982}"/>
              </a:ext>
            </a:extLst>
          </p:cNvPr>
          <p:cNvSpPr/>
          <p:nvPr/>
        </p:nvSpPr>
        <p:spPr>
          <a:xfrm>
            <a:off x="365760" y="20756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C5B7F415-A1AB-4D1C-81D5-7ED8FCF23B34}"/>
              </a:ext>
            </a:extLst>
          </p:cNvPr>
          <p:cNvSpPr/>
          <p:nvPr/>
        </p:nvSpPr>
        <p:spPr>
          <a:xfrm>
            <a:off x="987552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923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Performance Gap</a:t>
            </a: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EFC11ACA-67CA-41BA-B926-E3B9178323A8}"/>
              </a:ext>
            </a:extLst>
          </p:cNvPr>
          <p:cNvSpPr/>
          <p:nvPr/>
        </p:nvSpPr>
        <p:spPr>
          <a:xfrm>
            <a:off x="987552" y="22585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No unified platform to compare funds on risk-adjusted metrics</a:t>
            </a:r>
            <a:endParaRPr lang="en-US" sz="105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5567E71C-AA57-49AF-A19D-B19D89850AFB}"/>
              </a:ext>
            </a:extLst>
          </p:cNvPr>
          <p:cNvSpPr/>
          <p:nvPr/>
        </p:nvSpPr>
        <p:spPr>
          <a:xfrm>
            <a:off x="365760" y="2679192"/>
            <a:ext cx="8412480" cy="685801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4" name="Shape 13">
            <a:extLst>
              <a:ext uri="{FF2B5EF4-FFF2-40B4-BE49-F238E27FC236}">
                <a16:creationId xmlns:a16="http://schemas.microsoft.com/office/drawing/2014/main" id="{FEFAFA93-EC06-43C3-8E6A-0625DDA9B24D}"/>
              </a:ext>
            </a:extLst>
          </p:cNvPr>
          <p:cNvSpPr/>
          <p:nvPr/>
        </p:nvSpPr>
        <p:spPr>
          <a:xfrm>
            <a:off x="365760" y="2679192"/>
            <a:ext cx="502920" cy="685801"/>
          </a:xfrm>
          <a:prstGeom prst="roundRect">
            <a:avLst>
              <a:gd name="adj" fmla="val 12727"/>
            </a:avLst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7B5824BD-6AFD-4374-9892-A6E0A01B495F}"/>
              </a:ext>
            </a:extLst>
          </p:cNvPr>
          <p:cNvSpPr/>
          <p:nvPr/>
        </p:nvSpPr>
        <p:spPr>
          <a:xfrm>
            <a:off x="365760" y="28437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76" name="Text 15">
            <a:extLst>
              <a:ext uri="{FF2B5EF4-FFF2-40B4-BE49-F238E27FC236}">
                <a16:creationId xmlns:a16="http://schemas.microsoft.com/office/drawing/2014/main" id="{801F5DD4-6AB5-474E-B137-A5EA80530D1D}"/>
              </a:ext>
            </a:extLst>
          </p:cNvPr>
          <p:cNvSpPr/>
          <p:nvPr/>
        </p:nvSpPr>
        <p:spPr>
          <a:xfrm>
            <a:off x="987552" y="2734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923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No Benchmark Tracking</a:t>
            </a: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77" name="Text 16">
            <a:extLst>
              <a:ext uri="{FF2B5EF4-FFF2-40B4-BE49-F238E27FC236}">
                <a16:creationId xmlns:a16="http://schemas.microsoft.com/office/drawing/2014/main" id="{BBF17EDA-15F7-4A51-8E17-9E05800BA749}"/>
              </a:ext>
            </a:extLst>
          </p:cNvPr>
          <p:cNvSpPr/>
          <p:nvPr/>
        </p:nvSpPr>
        <p:spPr>
          <a:xfrm>
            <a:off x="987552" y="30266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Investors cannot see if their fund beats Nifty 50 / Nifty 100</a:t>
            </a:r>
            <a:endParaRPr lang="en-US" sz="105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78" name="Shape 17">
            <a:extLst>
              <a:ext uri="{FF2B5EF4-FFF2-40B4-BE49-F238E27FC236}">
                <a16:creationId xmlns:a16="http://schemas.microsoft.com/office/drawing/2014/main" id="{C11EFAF5-550D-4CC9-9BC3-E8A4DADC621B}"/>
              </a:ext>
            </a:extLst>
          </p:cNvPr>
          <p:cNvSpPr/>
          <p:nvPr/>
        </p:nvSpPr>
        <p:spPr>
          <a:xfrm>
            <a:off x="365760" y="3447288"/>
            <a:ext cx="8412480" cy="685801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9" name="Shape 18">
            <a:extLst>
              <a:ext uri="{FF2B5EF4-FFF2-40B4-BE49-F238E27FC236}">
                <a16:creationId xmlns:a16="http://schemas.microsoft.com/office/drawing/2014/main" id="{ED4EA6BD-56A8-4FC3-8867-C1759AB56117}"/>
              </a:ext>
            </a:extLst>
          </p:cNvPr>
          <p:cNvSpPr/>
          <p:nvPr/>
        </p:nvSpPr>
        <p:spPr>
          <a:xfrm>
            <a:off x="365760" y="3447288"/>
            <a:ext cx="502920" cy="685801"/>
          </a:xfrm>
          <a:prstGeom prst="roundRect">
            <a:avLst>
              <a:gd name="adj" fmla="val 12727"/>
            </a:avLst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80" name="Text 19">
            <a:extLst>
              <a:ext uri="{FF2B5EF4-FFF2-40B4-BE49-F238E27FC236}">
                <a16:creationId xmlns:a16="http://schemas.microsoft.com/office/drawing/2014/main" id="{98AE421B-CD5A-4C46-A233-2948BF0A8B87}"/>
              </a:ext>
            </a:extLst>
          </p:cNvPr>
          <p:cNvSpPr/>
          <p:nvPr/>
        </p:nvSpPr>
        <p:spPr>
          <a:xfrm>
            <a:off x="365760" y="36118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082E2D20-F636-4676-B5A8-26C2BC7C6A88}"/>
              </a:ext>
            </a:extLst>
          </p:cNvPr>
          <p:cNvSpPr/>
          <p:nvPr/>
        </p:nvSpPr>
        <p:spPr>
          <a:xfrm>
            <a:off x="987552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923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Investor Blind Spot</a:t>
            </a: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2" name="Text 21">
            <a:extLst>
              <a:ext uri="{FF2B5EF4-FFF2-40B4-BE49-F238E27FC236}">
                <a16:creationId xmlns:a16="http://schemas.microsoft.com/office/drawing/2014/main" id="{67472FCD-4B2E-40F0-86C3-832C16AADE22}"/>
              </a:ext>
            </a:extLst>
          </p:cNvPr>
          <p:cNvSpPr/>
          <p:nvPr/>
        </p:nvSpPr>
        <p:spPr>
          <a:xfrm>
            <a:off x="987552" y="37947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Limited visibility into demographic SIP patterns</a:t>
            </a:r>
            <a:endParaRPr lang="en-US" sz="105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3" name="Shape 22">
            <a:extLst>
              <a:ext uri="{FF2B5EF4-FFF2-40B4-BE49-F238E27FC236}">
                <a16:creationId xmlns:a16="http://schemas.microsoft.com/office/drawing/2014/main" id="{61324C39-9518-4C6F-B094-BECB75210171}"/>
              </a:ext>
            </a:extLst>
          </p:cNvPr>
          <p:cNvSpPr/>
          <p:nvPr/>
        </p:nvSpPr>
        <p:spPr>
          <a:xfrm>
            <a:off x="365760" y="4215384"/>
            <a:ext cx="8412480" cy="685801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4" name="Shape 23">
            <a:extLst>
              <a:ext uri="{FF2B5EF4-FFF2-40B4-BE49-F238E27FC236}">
                <a16:creationId xmlns:a16="http://schemas.microsoft.com/office/drawing/2014/main" id="{CE4C8037-6885-4B7D-8197-529FD867841B}"/>
              </a:ext>
            </a:extLst>
          </p:cNvPr>
          <p:cNvSpPr/>
          <p:nvPr/>
        </p:nvSpPr>
        <p:spPr>
          <a:xfrm>
            <a:off x="365760" y="4215384"/>
            <a:ext cx="502920" cy="685801"/>
          </a:xfrm>
          <a:prstGeom prst="roundRect">
            <a:avLst>
              <a:gd name="adj" fmla="val 12727"/>
            </a:avLst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85" name="Text 24">
            <a:extLst>
              <a:ext uri="{FF2B5EF4-FFF2-40B4-BE49-F238E27FC236}">
                <a16:creationId xmlns:a16="http://schemas.microsoft.com/office/drawing/2014/main" id="{88AFBBE9-15CE-42DF-99BE-AD1079642AC4}"/>
              </a:ext>
            </a:extLst>
          </p:cNvPr>
          <p:cNvSpPr/>
          <p:nvPr/>
        </p:nvSpPr>
        <p:spPr>
          <a:xfrm>
            <a:off x="365760" y="43799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86" name="Text 25">
            <a:extLst>
              <a:ext uri="{FF2B5EF4-FFF2-40B4-BE49-F238E27FC236}">
                <a16:creationId xmlns:a16="http://schemas.microsoft.com/office/drawing/2014/main" id="{CDC679D0-9AA6-429D-8E0C-3FAD9CDAF831}"/>
              </a:ext>
            </a:extLst>
          </p:cNvPr>
          <p:cNvSpPr/>
          <p:nvPr/>
        </p:nvSpPr>
        <p:spPr>
          <a:xfrm>
            <a:off x="987552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923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Slow Reporting</a:t>
            </a: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9BB10536-46E1-4FE6-B408-777C3B3700C3}"/>
              </a:ext>
            </a:extLst>
          </p:cNvPr>
          <p:cNvSpPr/>
          <p:nvPr/>
        </p:nvSpPr>
        <p:spPr>
          <a:xfrm>
            <a:off x="987552" y="45628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Monthly static PDFs take days - stakeholders need live dashboards</a:t>
            </a:r>
            <a:endParaRPr lang="en-US" sz="1050" dirty="0">
              <a:latin typeface="Archivo" panose="020B0604020202020204" charset="0"/>
              <a:cs typeface="Archivo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720000" y="273316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Archivo" panose="020B0604020202020204" charset="0"/>
                <a:cs typeface="Archivo" panose="020B0604020202020204" charset="0"/>
              </a:rPr>
              <a:t>DATA SOURCES AND DATASETS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75" name="Shape 2">
            <a:extLst>
              <a:ext uri="{FF2B5EF4-FFF2-40B4-BE49-F238E27FC236}">
                <a16:creationId xmlns:a16="http://schemas.microsoft.com/office/drawing/2014/main" id="{FC7C1F24-C61B-48CF-972B-E5014F4D0508}"/>
              </a:ext>
            </a:extLst>
          </p:cNvPr>
          <p:cNvSpPr/>
          <p:nvPr/>
        </p:nvSpPr>
        <p:spPr>
          <a:xfrm>
            <a:off x="688483" y="1231900"/>
            <a:ext cx="3437837" cy="1188720"/>
          </a:xfrm>
          <a:prstGeom prst="roundRect">
            <a:avLst>
              <a:gd name="adj" fmla="val 6154"/>
            </a:avLst>
          </a:prstGeom>
          <a:solidFill>
            <a:schemeClr val="tx2">
              <a:lumMod val="50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6" name="Text 3">
            <a:extLst>
              <a:ext uri="{FF2B5EF4-FFF2-40B4-BE49-F238E27FC236}">
                <a16:creationId xmlns:a16="http://schemas.microsoft.com/office/drawing/2014/main" id="{B954B373-2551-4978-A203-6EA015A09B1A}"/>
              </a:ext>
            </a:extLst>
          </p:cNvPr>
          <p:cNvSpPr/>
          <p:nvPr/>
        </p:nvSpPr>
        <p:spPr>
          <a:xfrm>
            <a:off x="871363" y="13233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AMFI India</a:t>
            </a:r>
            <a:endParaRPr lang="en-US" dirty="0">
              <a:solidFill>
                <a:schemeClr val="bg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464A7F3B-97E6-4146-B105-8C7FF9729636}"/>
              </a:ext>
            </a:extLst>
          </p:cNvPr>
          <p:cNvSpPr/>
          <p:nvPr/>
        </p:nvSpPr>
        <p:spPr>
          <a:xfrm>
            <a:off x="871363" y="16159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amfiindia.com</a:t>
            </a:r>
            <a:endParaRPr lang="en-US" sz="1000" dirty="0">
              <a:solidFill>
                <a:schemeClr val="tx2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78" name="Text 5">
            <a:extLst>
              <a:ext uri="{FF2B5EF4-FFF2-40B4-BE49-F238E27FC236}">
                <a16:creationId xmlns:a16="http://schemas.microsoft.com/office/drawing/2014/main" id="{865DE9B8-2AC3-4E7F-81B8-6EAE86A676A0}"/>
              </a:ext>
            </a:extLst>
          </p:cNvPr>
          <p:cNvSpPr/>
          <p:nvPr/>
        </p:nvSpPr>
        <p:spPr>
          <a:xfrm>
            <a:off x="871363" y="18536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NAV, AUM, SIP data</a:t>
            </a:r>
            <a:endParaRPr lang="en-US" sz="11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79" name="Text 6">
            <a:extLst>
              <a:ext uri="{FF2B5EF4-FFF2-40B4-BE49-F238E27FC236}">
                <a16:creationId xmlns:a16="http://schemas.microsoft.com/office/drawing/2014/main" id="{A2214451-C430-4748-A104-6751B933105C}"/>
              </a:ext>
            </a:extLst>
          </p:cNvPr>
          <p:cNvSpPr/>
          <p:nvPr/>
        </p:nvSpPr>
        <p:spPr>
          <a:xfrm>
            <a:off x="871363" y="20822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Daily / Monthly</a:t>
            </a:r>
            <a:endParaRPr lang="en-US" sz="1000" dirty="0">
              <a:solidFill>
                <a:schemeClr val="tx2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1603C787-26AA-47C7-A1A6-8AF7F398279B}"/>
              </a:ext>
            </a:extLst>
          </p:cNvPr>
          <p:cNvSpPr/>
          <p:nvPr/>
        </p:nvSpPr>
        <p:spPr>
          <a:xfrm>
            <a:off x="4986163" y="1231900"/>
            <a:ext cx="3437837" cy="1188720"/>
          </a:xfrm>
          <a:prstGeom prst="roundRect">
            <a:avLst>
              <a:gd name="adj" fmla="val 6154"/>
            </a:avLst>
          </a:prstGeom>
          <a:solidFill>
            <a:schemeClr val="tx2">
              <a:lumMod val="50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7F1C3730-180B-4B9B-8162-26AB5FA2878F}"/>
              </a:ext>
            </a:extLst>
          </p:cNvPr>
          <p:cNvSpPr/>
          <p:nvPr/>
        </p:nvSpPr>
        <p:spPr>
          <a:xfrm>
            <a:off x="5169043" y="13233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mfapi.in</a:t>
            </a:r>
            <a:endParaRPr lang="en-US" dirty="0">
              <a:solidFill>
                <a:schemeClr val="bg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A639088F-17F9-4FB8-99E4-474C83F38198}"/>
              </a:ext>
            </a:extLst>
          </p:cNvPr>
          <p:cNvSpPr/>
          <p:nvPr/>
        </p:nvSpPr>
        <p:spPr>
          <a:xfrm>
            <a:off x="5169043" y="16159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api.mfapi.in/mf/{code}</a:t>
            </a:r>
            <a:endParaRPr lang="en-US" sz="1000" dirty="0">
              <a:solidFill>
                <a:schemeClr val="tx2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E2FBABE7-A877-484C-8823-BCF691A0A0C7}"/>
              </a:ext>
            </a:extLst>
          </p:cNvPr>
          <p:cNvSpPr/>
          <p:nvPr/>
        </p:nvSpPr>
        <p:spPr>
          <a:xfrm>
            <a:off x="5169043" y="18536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Historical NAV JSON</a:t>
            </a:r>
            <a:endParaRPr lang="en-US" sz="11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9E2AF97F-E414-4A07-A0BF-8386BB597702}"/>
              </a:ext>
            </a:extLst>
          </p:cNvPr>
          <p:cNvSpPr/>
          <p:nvPr/>
        </p:nvSpPr>
        <p:spPr>
          <a:xfrm>
            <a:off x="5169043" y="20822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Daily</a:t>
            </a:r>
            <a:endParaRPr lang="en-US" sz="1000" dirty="0">
              <a:solidFill>
                <a:schemeClr val="tx2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5" name="Shape 12">
            <a:extLst>
              <a:ext uri="{FF2B5EF4-FFF2-40B4-BE49-F238E27FC236}">
                <a16:creationId xmlns:a16="http://schemas.microsoft.com/office/drawing/2014/main" id="{CBD60632-4265-4C5B-A994-C88E87E55C6F}"/>
              </a:ext>
            </a:extLst>
          </p:cNvPr>
          <p:cNvSpPr/>
          <p:nvPr/>
        </p:nvSpPr>
        <p:spPr>
          <a:xfrm>
            <a:off x="688483" y="2649220"/>
            <a:ext cx="3437837" cy="1188720"/>
          </a:xfrm>
          <a:prstGeom prst="roundRect">
            <a:avLst>
              <a:gd name="adj" fmla="val 6154"/>
            </a:avLst>
          </a:prstGeom>
          <a:solidFill>
            <a:schemeClr val="tx2">
              <a:lumMod val="50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1BC62571-6542-4A38-A941-7A5E5FEF6AEA}"/>
              </a:ext>
            </a:extLst>
          </p:cNvPr>
          <p:cNvSpPr/>
          <p:nvPr/>
        </p:nvSpPr>
        <p:spPr>
          <a:xfrm>
            <a:off x="871363" y="27406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NSE India</a:t>
            </a:r>
            <a:endParaRPr lang="en-US" dirty="0">
              <a:solidFill>
                <a:schemeClr val="bg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E9B5E362-1A94-4297-BA18-52C992AFD385}"/>
              </a:ext>
            </a:extLst>
          </p:cNvPr>
          <p:cNvSpPr/>
          <p:nvPr/>
        </p:nvSpPr>
        <p:spPr>
          <a:xfrm>
            <a:off x="871363" y="30332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nseindia.com</a:t>
            </a:r>
            <a:endParaRPr lang="en-US" sz="1000" dirty="0">
              <a:solidFill>
                <a:schemeClr val="tx2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8" name="Text 15">
            <a:extLst>
              <a:ext uri="{FF2B5EF4-FFF2-40B4-BE49-F238E27FC236}">
                <a16:creationId xmlns:a16="http://schemas.microsoft.com/office/drawing/2014/main" id="{04FAB86C-9EDA-4A95-83FB-3A5A93DA2EA8}"/>
              </a:ext>
            </a:extLst>
          </p:cNvPr>
          <p:cNvSpPr/>
          <p:nvPr/>
        </p:nvSpPr>
        <p:spPr>
          <a:xfrm>
            <a:off x="871363" y="32710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Nifty 50, Nifty 100 index</a:t>
            </a:r>
            <a:endParaRPr lang="en-US" sz="11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9" name="Text 16">
            <a:extLst>
              <a:ext uri="{FF2B5EF4-FFF2-40B4-BE49-F238E27FC236}">
                <a16:creationId xmlns:a16="http://schemas.microsoft.com/office/drawing/2014/main" id="{726DE8F0-6C8D-427E-9A02-61C20BBCEB01}"/>
              </a:ext>
            </a:extLst>
          </p:cNvPr>
          <p:cNvSpPr/>
          <p:nvPr/>
        </p:nvSpPr>
        <p:spPr>
          <a:xfrm>
            <a:off x="871363" y="3499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Daily</a:t>
            </a:r>
            <a:endParaRPr lang="en-US" sz="1000" dirty="0">
              <a:solidFill>
                <a:schemeClr val="tx2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0" name="Shape 17">
            <a:extLst>
              <a:ext uri="{FF2B5EF4-FFF2-40B4-BE49-F238E27FC236}">
                <a16:creationId xmlns:a16="http://schemas.microsoft.com/office/drawing/2014/main" id="{9817DBB4-F718-4B85-AB38-D62C286C8819}"/>
              </a:ext>
            </a:extLst>
          </p:cNvPr>
          <p:cNvSpPr/>
          <p:nvPr/>
        </p:nvSpPr>
        <p:spPr>
          <a:xfrm>
            <a:off x="4986163" y="2649220"/>
            <a:ext cx="3437837" cy="1188720"/>
          </a:xfrm>
          <a:prstGeom prst="roundRect">
            <a:avLst>
              <a:gd name="adj" fmla="val 6154"/>
            </a:avLst>
          </a:prstGeom>
          <a:solidFill>
            <a:schemeClr val="tx2">
              <a:lumMod val="50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1" name="Text 18">
            <a:extLst>
              <a:ext uri="{FF2B5EF4-FFF2-40B4-BE49-F238E27FC236}">
                <a16:creationId xmlns:a16="http://schemas.microsoft.com/office/drawing/2014/main" id="{03E4255C-4EC1-4E6D-A71F-C769EA030C7B}"/>
              </a:ext>
            </a:extLst>
          </p:cNvPr>
          <p:cNvSpPr/>
          <p:nvPr/>
        </p:nvSpPr>
        <p:spPr>
          <a:xfrm>
            <a:off x="5169043" y="27406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BSE India</a:t>
            </a:r>
            <a:endParaRPr lang="en-US" dirty="0">
              <a:solidFill>
                <a:schemeClr val="bg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2" name="Text 19">
            <a:extLst>
              <a:ext uri="{FF2B5EF4-FFF2-40B4-BE49-F238E27FC236}">
                <a16:creationId xmlns:a16="http://schemas.microsoft.com/office/drawing/2014/main" id="{16260E20-18C2-4F56-ADFE-53B4A94A24C5}"/>
              </a:ext>
            </a:extLst>
          </p:cNvPr>
          <p:cNvSpPr/>
          <p:nvPr/>
        </p:nvSpPr>
        <p:spPr>
          <a:xfrm>
            <a:off x="5169043" y="30332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bseindia.com</a:t>
            </a:r>
            <a:endParaRPr lang="en-US" sz="1000" dirty="0">
              <a:solidFill>
                <a:schemeClr val="tx2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3" name="Text 20">
            <a:extLst>
              <a:ext uri="{FF2B5EF4-FFF2-40B4-BE49-F238E27FC236}">
                <a16:creationId xmlns:a16="http://schemas.microsoft.com/office/drawing/2014/main" id="{B2A43CAD-A108-4BAB-ACE5-7D49F8A445BE}"/>
              </a:ext>
            </a:extLst>
          </p:cNvPr>
          <p:cNvSpPr/>
          <p:nvPr/>
        </p:nvSpPr>
        <p:spPr>
          <a:xfrm>
            <a:off x="5169043" y="32710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BSE SmallCap index</a:t>
            </a:r>
            <a:endParaRPr lang="en-US" sz="11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4" name="Text 21">
            <a:extLst>
              <a:ext uri="{FF2B5EF4-FFF2-40B4-BE49-F238E27FC236}">
                <a16:creationId xmlns:a16="http://schemas.microsoft.com/office/drawing/2014/main" id="{6BAB4D7C-8D73-4767-BF26-244BFD4CDF92}"/>
              </a:ext>
            </a:extLst>
          </p:cNvPr>
          <p:cNvSpPr/>
          <p:nvPr/>
        </p:nvSpPr>
        <p:spPr>
          <a:xfrm>
            <a:off x="5169043" y="3499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Daily</a:t>
            </a:r>
            <a:endParaRPr lang="en-US" sz="1000" dirty="0">
              <a:solidFill>
                <a:schemeClr val="tx2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5" name="Shape 22">
            <a:extLst>
              <a:ext uri="{FF2B5EF4-FFF2-40B4-BE49-F238E27FC236}">
                <a16:creationId xmlns:a16="http://schemas.microsoft.com/office/drawing/2014/main" id="{82DFD2EC-D2B9-4844-A707-E26BA2820C15}"/>
              </a:ext>
            </a:extLst>
          </p:cNvPr>
          <p:cNvSpPr/>
          <p:nvPr/>
        </p:nvSpPr>
        <p:spPr>
          <a:xfrm>
            <a:off x="619109" y="4047338"/>
            <a:ext cx="1507300" cy="822960"/>
          </a:xfrm>
          <a:prstGeom prst="roundRect">
            <a:avLst>
              <a:gd name="adj" fmla="val 8889"/>
            </a:avLst>
          </a:prstGeom>
          <a:solidFill>
            <a:srgbClr val="D6CCC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6" name="Text 23">
            <a:extLst>
              <a:ext uri="{FF2B5EF4-FFF2-40B4-BE49-F238E27FC236}">
                <a16:creationId xmlns:a16="http://schemas.microsoft.com/office/drawing/2014/main" id="{AC5F9D12-B3EC-4CCE-BFD4-80E2B43BE296}"/>
              </a:ext>
            </a:extLst>
          </p:cNvPr>
          <p:cNvSpPr/>
          <p:nvPr/>
        </p:nvSpPr>
        <p:spPr>
          <a:xfrm>
            <a:off x="688483" y="4092935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40 Schemes</a:t>
            </a:r>
            <a:endParaRPr lang="en-US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7" name="Text 24">
            <a:extLst>
              <a:ext uri="{FF2B5EF4-FFF2-40B4-BE49-F238E27FC236}">
                <a16:creationId xmlns:a16="http://schemas.microsoft.com/office/drawing/2014/main" id="{1420F862-7189-4704-BF05-D50BC05E9E3E}"/>
              </a:ext>
            </a:extLst>
          </p:cNvPr>
          <p:cNvSpPr/>
          <p:nvPr/>
        </p:nvSpPr>
        <p:spPr>
          <a:xfrm>
            <a:off x="910987" y="4432725"/>
            <a:ext cx="1783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1919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Real AMFI Funds</a:t>
            </a:r>
            <a:endParaRPr lang="en-US" sz="1000" b="1" dirty="0">
              <a:solidFill>
                <a:srgbClr val="191919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8" name="Shape 25">
            <a:extLst>
              <a:ext uri="{FF2B5EF4-FFF2-40B4-BE49-F238E27FC236}">
                <a16:creationId xmlns:a16="http://schemas.microsoft.com/office/drawing/2014/main" id="{F94D4A88-B883-49AA-92BF-5A8AA6B11D0A}"/>
              </a:ext>
            </a:extLst>
          </p:cNvPr>
          <p:cNvSpPr/>
          <p:nvPr/>
        </p:nvSpPr>
        <p:spPr>
          <a:xfrm>
            <a:off x="2740517" y="4047338"/>
            <a:ext cx="1507300" cy="822960"/>
          </a:xfrm>
          <a:prstGeom prst="roundRect">
            <a:avLst>
              <a:gd name="adj" fmla="val 8889"/>
            </a:avLst>
          </a:prstGeom>
          <a:solidFill>
            <a:srgbClr val="D6CCC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9" name="Text 26">
            <a:extLst>
              <a:ext uri="{FF2B5EF4-FFF2-40B4-BE49-F238E27FC236}">
                <a16:creationId xmlns:a16="http://schemas.microsoft.com/office/drawing/2014/main" id="{37AA614F-98A9-451D-AAC3-B5E42DE3411F}"/>
              </a:ext>
            </a:extLst>
          </p:cNvPr>
          <p:cNvSpPr/>
          <p:nvPr/>
        </p:nvSpPr>
        <p:spPr>
          <a:xfrm>
            <a:off x="2898399" y="4101712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87K+ Rows</a:t>
            </a:r>
            <a:endParaRPr lang="en-US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00" name="Text 27">
            <a:extLst>
              <a:ext uri="{FF2B5EF4-FFF2-40B4-BE49-F238E27FC236}">
                <a16:creationId xmlns:a16="http://schemas.microsoft.com/office/drawing/2014/main" id="{C008D26C-E3BC-4D12-A241-FF199B3AA152}"/>
              </a:ext>
            </a:extLst>
          </p:cNvPr>
          <p:cNvSpPr/>
          <p:nvPr/>
        </p:nvSpPr>
        <p:spPr>
          <a:xfrm>
            <a:off x="3032395" y="4432725"/>
            <a:ext cx="1783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1919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Transaction Data</a:t>
            </a:r>
            <a:endParaRPr lang="en-US" sz="1000" b="1" dirty="0">
              <a:solidFill>
                <a:srgbClr val="191919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01" name="Shape 28">
            <a:extLst>
              <a:ext uri="{FF2B5EF4-FFF2-40B4-BE49-F238E27FC236}">
                <a16:creationId xmlns:a16="http://schemas.microsoft.com/office/drawing/2014/main" id="{01240DAB-C16A-4906-89D0-18E79DC73F43}"/>
              </a:ext>
            </a:extLst>
          </p:cNvPr>
          <p:cNvSpPr/>
          <p:nvPr/>
        </p:nvSpPr>
        <p:spPr>
          <a:xfrm>
            <a:off x="4861925" y="4047338"/>
            <a:ext cx="1507300" cy="822960"/>
          </a:xfrm>
          <a:prstGeom prst="roundRect">
            <a:avLst>
              <a:gd name="adj" fmla="val 8889"/>
            </a:avLst>
          </a:prstGeom>
          <a:solidFill>
            <a:srgbClr val="D6CCC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273F2729-D061-444A-8CE5-FA6D1A35A441}"/>
              </a:ext>
            </a:extLst>
          </p:cNvPr>
          <p:cNvSpPr/>
          <p:nvPr/>
        </p:nvSpPr>
        <p:spPr>
          <a:xfrm>
            <a:off x="5118015" y="4085719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46K Rows</a:t>
            </a:r>
            <a:endParaRPr lang="en-US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03" name="Text 30">
            <a:extLst>
              <a:ext uri="{FF2B5EF4-FFF2-40B4-BE49-F238E27FC236}">
                <a16:creationId xmlns:a16="http://schemas.microsoft.com/office/drawing/2014/main" id="{6B9240BD-1D5C-4983-BBFA-06500367C8AC}"/>
              </a:ext>
            </a:extLst>
          </p:cNvPr>
          <p:cNvSpPr/>
          <p:nvPr/>
        </p:nvSpPr>
        <p:spPr>
          <a:xfrm>
            <a:off x="5239512" y="4432725"/>
            <a:ext cx="1783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1919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NAV History</a:t>
            </a:r>
            <a:endParaRPr lang="en-US" sz="1000" b="1" dirty="0">
              <a:solidFill>
                <a:srgbClr val="191919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04" name="Shape 31">
            <a:extLst>
              <a:ext uri="{FF2B5EF4-FFF2-40B4-BE49-F238E27FC236}">
                <a16:creationId xmlns:a16="http://schemas.microsoft.com/office/drawing/2014/main" id="{2F0E7DFA-633A-4991-9BAF-562DA5D57652}"/>
              </a:ext>
            </a:extLst>
          </p:cNvPr>
          <p:cNvSpPr/>
          <p:nvPr/>
        </p:nvSpPr>
        <p:spPr>
          <a:xfrm>
            <a:off x="6983333" y="4047338"/>
            <a:ext cx="1507300" cy="822960"/>
          </a:xfrm>
          <a:prstGeom prst="roundRect">
            <a:avLst>
              <a:gd name="adj" fmla="val 8889"/>
            </a:avLst>
          </a:prstGeom>
          <a:solidFill>
            <a:srgbClr val="D6CCC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5" name="Text 32">
            <a:extLst>
              <a:ext uri="{FF2B5EF4-FFF2-40B4-BE49-F238E27FC236}">
                <a16:creationId xmlns:a16="http://schemas.microsoft.com/office/drawing/2014/main" id="{F2647E51-86EE-4F08-94A2-FA1C965CC7BE}"/>
              </a:ext>
            </a:extLst>
          </p:cNvPr>
          <p:cNvSpPr/>
          <p:nvPr/>
        </p:nvSpPr>
        <p:spPr>
          <a:xfrm>
            <a:off x="7226443" y="4092935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4.5 Years</a:t>
            </a:r>
            <a:endParaRPr lang="en-US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06" name="Text 33">
            <a:extLst>
              <a:ext uri="{FF2B5EF4-FFF2-40B4-BE49-F238E27FC236}">
                <a16:creationId xmlns:a16="http://schemas.microsoft.com/office/drawing/2014/main" id="{B45C1A24-24A2-47D2-9D13-63BB08B45C24}"/>
              </a:ext>
            </a:extLst>
          </p:cNvPr>
          <p:cNvSpPr/>
          <p:nvPr/>
        </p:nvSpPr>
        <p:spPr>
          <a:xfrm>
            <a:off x="7360920" y="4432725"/>
            <a:ext cx="1783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1919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Data Coverage</a:t>
            </a:r>
            <a:endParaRPr lang="en-US" sz="1000" b="1" dirty="0">
              <a:solidFill>
                <a:srgbClr val="191919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">
            <a:extLst>
              <a:ext uri="{FF2B5EF4-FFF2-40B4-BE49-F238E27FC236}">
                <a16:creationId xmlns:a16="http://schemas.microsoft.com/office/drawing/2014/main" id="{976720C5-E5BF-49D4-B37D-D43B74384A45}"/>
              </a:ext>
            </a:extLst>
          </p:cNvPr>
          <p:cNvSpPr/>
          <p:nvPr/>
        </p:nvSpPr>
        <p:spPr>
          <a:xfrm>
            <a:off x="365760" y="1282930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A9EAEA60-1DCD-4F6B-9C40-65A5147AF734}"/>
              </a:ext>
            </a:extLst>
          </p:cNvPr>
          <p:cNvSpPr/>
          <p:nvPr/>
        </p:nvSpPr>
        <p:spPr>
          <a:xfrm>
            <a:off x="2084832" y="1282930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6A301940-6C54-4D3D-9A84-533775A2B0C1}"/>
              </a:ext>
            </a:extLst>
          </p:cNvPr>
          <p:cNvSpPr/>
          <p:nvPr/>
        </p:nvSpPr>
        <p:spPr>
          <a:xfrm>
            <a:off x="3803904" y="1282930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20">
            <a:extLst>
              <a:ext uri="{FF2B5EF4-FFF2-40B4-BE49-F238E27FC236}">
                <a16:creationId xmlns:a16="http://schemas.microsoft.com/office/drawing/2014/main" id="{69019487-9EE8-4A16-A794-9F8BD28E78E5}"/>
              </a:ext>
            </a:extLst>
          </p:cNvPr>
          <p:cNvSpPr/>
          <p:nvPr/>
        </p:nvSpPr>
        <p:spPr>
          <a:xfrm>
            <a:off x="5522976" y="1282930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19B91207-8F3D-414F-8781-F3D3AADFE01E}"/>
              </a:ext>
            </a:extLst>
          </p:cNvPr>
          <p:cNvSpPr/>
          <p:nvPr/>
        </p:nvSpPr>
        <p:spPr>
          <a:xfrm>
            <a:off x="7242048" y="1282930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Google Shape;175;p31">
            <a:extLst>
              <a:ext uri="{FF2B5EF4-FFF2-40B4-BE49-F238E27FC236}">
                <a16:creationId xmlns:a16="http://schemas.microsoft.com/office/drawing/2014/main" id="{C804F9A0-0824-43F9-B87C-64EAC5D120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4613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latin typeface="Archivo" panose="020B0604020202020204" charset="0"/>
                <a:cs typeface="Archivo" panose="020B0604020202020204" charset="0"/>
              </a:rPr>
              <a:t>SYSTEM ARCHITECTURE ETL PIPELINE</a:t>
            </a:r>
            <a:endParaRPr sz="28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43E33CD8-A77C-41E8-AC54-5D9FFF8CAC04}"/>
              </a:ext>
            </a:extLst>
          </p:cNvPr>
          <p:cNvSpPr/>
          <p:nvPr/>
        </p:nvSpPr>
        <p:spPr>
          <a:xfrm>
            <a:off x="365760" y="128293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9193CE32-F62B-42BE-8F86-A55D946A64D4}"/>
              </a:ext>
            </a:extLst>
          </p:cNvPr>
          <p:cNvSpPr/>
          <p:nvPr/>
        </p:nvSpPr>
        <p:spPr>
          <a:xfrm>
            <a:off x="1113800" y="132865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1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D506874C-1423-4D8F-9771-07504FCF4E9A}"/>
              </a:ext>
            </a:extLst>
          </p:cNvPr>
          <p:cNvSpPr/>
          <p:nvPr/>
        </p:nvSpPr>
        <p:spPr>
          <a:xfrm>
            <a:off x="457200" y="183157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EXTRACT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011F31F5-CF65-455D-9FEC-71EAF842FEF8}"/>
              </a:ext>
            </a:extLst>
          </p:cNvPr>
          <p:cNvSpPr/>
          <p:nvPr/>
        </p:nvSpPr>
        <p:spPr>
          <a:xfrm>
            <a:off x="457200" y="228877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AMFI CSVs 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mfapi.in API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NSE Bhavcopy</a:t>
            </a:r>
            <a:endParaRPr lang="en-US" sz="1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AA031E63-22D8-42F5-8956-07B32587A1F5}"/>
              </a:ext>
            </a:extLst>
          </p:cNvPr>
          <p:cNvSpPr/>
          <p:nvPr/>
        </p:nvSpPr>
        <p:spPr>
          <a:xfrm>
            <a:off x="1993392" y="265453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5F591C48-43F3-45D0-99D3-5DBBC0755EBD}"/>
              </a:ext>
            </a:extLst>
          </p:cNvPr>
          <p:cNvSpPr/>
          <p:nvPr/>
        </p:nvSpPr>
        <p:spPr>
          <a:xfrm>
            <a:off x="2084832" y="128293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AEABE235-F52A-4A19-8A78-0184334AC13C}"/>
              </a:ext>
            </a:extLst>
          </p:cNvPr>
          <p:cNvSpPr/>
          <p:nvPr/>
        </p:nvSpPr>
        <p:spPr>
          <a:xfrm>
            <a:off x="2832872" y="132865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2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F6ABF4B9-4EE1-40DA-A1AA-47DE069B4DF3}"/>
              </a:ext>
            </a:extLst>
          </p:cNvPr>
          <p:cNvSpPr/>
          <p:nvPr/>
        </p:nvSpPr>
        <p:spPr>
          <a:xfrm>
            <a:off x="2176272" y="183157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TRANSFORM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5C2BDD8B-79A6-4E27-875C-48820810CFC0}"/>
              </a:ext>
            </a:extLst>
          </p:cNvPr>
          <p:cNvSpPr/>
          <p:nvPr/>
        </p:nvSpPr>
        <p:spPr>
          <a:xfrm>
            <a:off x="2176272" y="228877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Pandas cleaning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 Holiday </a:t>
            </a:r>
            <a:r>
              <a:rPr lang="en-US" sz="1000" dirty="0" err="1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ffill</a:t>
            </a: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 Type casting</a:t>
            </a:r>
            <a:endParaRPr lang="en-US" sz="1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4AF4F302-E7A6-49BA-8DB2-529D7C786F44}"/>
              </a:ext>
            </a:extLst>
          </p:cNvPr>
          <p:cNvSpPr/>
          <p:nvPr/>
        </p:nvSpPr>
        <p:spPr>
          <a:xfrm>
            <a:off x="3712464" y="265453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40D5821E-9BA1-4832-8823-20326C16ECAD}"/>
              </a:ext>
            </a:extLst>
          </p:cNvPr>
          <p:cNvSpPr/>
          <p:nvPr/>
        </p:nvSpPr>
        <p:spPr>
          <a:xfrm>
            <a:off x="3819272" y="128293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7926C719-4B2A-47C6-B45B-2C7FD5F78FC8}"/>
              </a:ext>
            </a:extLst>
          </p:cNvPr>
          <p:cNvSpPr/>
          <p:nvPr/>
        </p:nvSpPr>
        <p:spPr>
          <a:xfrm>
            <a:off x="4536576" y="132865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3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01E15F3C-00FF-40EB-BA96-08F069F4D7CC}"/>
              </a:ext>
            </a:extLst>
          </p:cNvPr>
          <p:cNvSpPr/>
          <p:nvPr/>
        </p:nvSpPr>
        <p:spPr>
          <a:xfrm>
            <a:off x="3895344" y="183157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LOAD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75053AD8-0F30-4938-8B88-EB01A724E356}"/>
              </a:ext>
            </a:extLst>
          </p:cNvPr>
          <p:cNvSpPr/>
          <p:nvPr/>
        </p:nvSpPr>
        <p:spPr>
          <a:xfrm>
            <a:off x="3895344" y="228877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SQLite star schema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 10 tables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8 indexes</a:t>
            </a:r>
            <a:endParaRPr lang="en-US" sz="1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AE49DC7F-1B35-495F-B588-B29B5AABEE1A}"/>
              </a:ext>
            </a:extLst>
          </p:cNvPr>
          <p:cNvSpPr/>
          <p:nvPr/>
        </p:nvSpPr>
        <p:spPr>
          <a:xfrm>
            <a:off x="5431536" y="265453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CD7AC58E-F9B8-45A0-BA77-21903C0C58B3}"/>
              </a:ext>
            </a:extLst>
          </p:cNvPr>
          <p:cNvSpPr/>
          <p:nvPr/>
        </p:nvSpPr>
        <p:spPr>
          <a:xfrm>
            <a:off x="5522976" y="128293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D94BCECF-B0D9-4D9F-BB84-97FC90E82EEA}"/>
              </a:ext>
            </a:extLst>
          </p:cNvPr>
          <p:cNvSpPr/>
          <p:nvPr/>
        </p:nvSpPr>
        <p:spPr>
          <a:xfrm>
            <a:off x="6271016" y="132865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4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A1B90268-5F0D-4078-B762-231046614756}"/>
              </a:ext>
            </a:extLst>
          </p:cNvPr>
          <p:cNvSpPr/>
          <p:nvPr/>
        </p:nvSpPr>
        <p:spPr>
          <a:xfrm>
            <a:off x="5614416" y="183157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ANALYSE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1E7B5D51-F7A9-43BA-9858-22F642006654}"/>
              </a:ext>
            </a:extLst>
          </p:cNvPr>
          <p:cNvSpPr/>
          <p:nvPr/>
        </p:nvSpPr>
        <p:spPr>
          <a:xfrm>
            <a:off x="5614416" y="228877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Jupyter notebooks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 Sharpe </a:t>
            </a:r>
          </a:p>
          <a:p>
            <a:pPr marL="0" indent="0" algn="ctr">
              <a:buNone/>
            </a:pPr>
            <a:r>
              <a:rPr lang="en-US" sz="1000" dirty="0" err="1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VaR</a:t>
            </a: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HHI</a:t>
            </a:r>
            <a:endParaRPr lang="en-US" sz="1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6CCF1861-87D0-4D8E-B360-3E52D63C0EF1}"/>
              </a:ext>
            </a:extLst>
          </p:cNvPr>
          <p:cNvSpPr/>
          <p:nvPr/>
        </p:nvSpPr>
        <p:spPr>
          <a:xfrm>
            <a:off x="7150608" y="265453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5" name="Shape 27">
            <a:extLst>
              <a:ext uri="{FF2B5EF4-FFF2-40B4-BE49-F238E27FC236}">
                <a16:creationId xmlns:a16="http://schemas.microsoft.com/office/drawing/2014/main" id="{761A7A2F-BFC9-447C-B617-98156FAB1830}"/>
              </a:ext>
            </a:extLst>
          </p:cNvPr>
          <p:cNvSpPr/>
          <p:nvPr/>
        </p:nvSpPr>
        <p:spPr>
          <a:xfrm>
            <a:off x="7242048" y="128293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C5256547-2614-4032-9752-AECEE4D1A92F}"/>
              </a:ext>
            </a:extLst>
          </p:cNvPr>
          <p:cNvSpPr/>
          <p:nvPr/>
        </p:nvSpPr>
        <p:spPr>
          <a:xfrm>
            <a:off x="7990088" y="132865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5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0BABC74C-EA94-424B-9AFC-0995926A2C36}"/>
              </a:ext>
            </a:extLst>
          </p:cNvPr>
          <p:cNvSpPr/>
          <p:nvPr/>
        </p:nvSpPr>
        <p:spPr>
          <a:xfrm>
            <a:off x="7333488" y="183157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VISUALISE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28A98533-DB57-45C0-8BEA-7D79CACD7D37}"/>
              </a:ext>
            </a:extLst>
          </p:cNvPr>
          <p:cNvSpPr/>
          <p:nvPr/>
        </p:nvSpPr>
        <p:spPr>
          <a:xfrm>
            <a:off x="7333488" y="228877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Power BI 4-page dashboard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 Streamlit web app</a:t>
            </a:r>
            <a:endParaRPr lang="en-US" sz="1000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776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720000" y="249003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Archivo" panose="020B0604020202020204" charset="0"/>
                <a:cs typeface="Archivo" panose="020B0604020202020204" charset="0"/>
              </a:rPr>
              <a:t>EDA HIGHLIGHTS – INDUSTRY &amp; SIP TRENDS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195" name="Google Shape;195;p33"/>
          <p:cNvGrpSpPr/>
          <p:nvPr/>
        </p:nvGrpSpPr>
        <p:grpSpPr>
          <a:xfrm>
            <a:off x="909982" y="1569562"/>
            <a:ext cx="286571" cy="286540"/>
            <a:chOff x="-65145700" y="3727425"/>
            <a:chExt cx="317425" cy="317425"/>
          </a:xfrm>
        </p:grpSpPr>
        <p:sp>
          <p:nvSpPr>
            <p:cNvPr id="196" name="Google Shape;196;p33"/>
            <p:cNvSpPr/>
            <p:nvPr/>
          </p:nvSpPr>
          <p:spPr>
            <a:xfrm>
              <a:off x="-65145700" y="376915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197" name="Google Shape;197;p33"/>
            <p:cNvSpPr/>
            <p:nvPr/>
          </p:nvSpPr>
          <p:spPr>
            <a:xfrm>
              <a:off x="-64977150" y="3727425"/>
              <a:ext cx="148875" cy="147300"/>
            </a:xfrm>
            <a:custGeom>
              <a:avLst/>
              <a:gdLst/>
              <a:ahLst/>
              <a:cxnLst/>
              <a:rect l="l" t="t" r="r" b="b"/>
              <a:pathLst>
                <a:path w="5955" h="5892" extrusionOk="0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</p:grpSp>
      <p:sp>
        <p:nvSpPr>
          <p:cNvPr id="198" name="Google Shape;198;p33"/>
          <p:cNvSpPr/>
          <p:nvPr/>
        </p:nvSpPr>
        <p:spPr>
          <a:xfrm>
            <a:off x="3896048" y="1570273"/>
            <a:ext cx="286571" cy="285118"/>
          </a:xfrm>
          <a:custGeom>
            <a:avLst/>
            <a:gdLst/>
            <a:ahLst/>
            <a:cxnLst/>
            <a:rect l="l" t="t" r="r" b="b"/>
            <a:pathLst>
              <a:path w="12697" h="12634" extrusionOk="0">
                <a:moveTo>
                  <a:pt x="11437" y="819"/>
                </a:moveTo>
                <a:cubicBezTo>
                  <a:pt x="11657" y="819"/>
                  <a:pt x="11815" y="1040"/>
                  <a:pt x="11815" y="1260"/>
                </a:cubicBezTo>
                <a:cubicBezTo>
                  <a:pt x="11815" y="1512"/>
                  <a:pt x="11657" y="1670"/>
                  <a:pt x="11437" y="1670"/>
                </a:cubicBezTo>
                <a:lnTo>
                  <a:pt x="1229" y="1670"/>
                </a:lnTo>
                <a:cubicBezTo>
                  <a:pt x="1009" y="1670"/>
                  <a:pt x="788" y="1449"/>
                  <a:pt x="788" y="1260"/>
                </a:cubicBezTo>
                <a:cubicBezTo>
                  <a:pt x="788" y="1071"/>
                  <a:pt x="1009" y="819"/>
                  <a:pt x="1229" y="819"/>
                </a:cubicBezTo>
                <a:close/>
                <a:moveTo>
                  <a:pt x="8790" y="3277"/>
                </a:moveTo>
                <a:cubicBezTo>
                  <a:pt x="9042" y="3277"/>
                  <a:pt x="9200" y="3466"/>
                  <a:pt x="9200" y="3655"/>
                </a:cubicBezTo>
                <a:lnTo>
                  <a:pt x="9200" y="5356"/>
                </a:lnTo>
                <a:lnTo>
                  <a:pt x="9232" y="5356"/>
                </a:lnTo>
                <a:cubicBezTo>
                  <a:pt x="9232" y="5608"/>
                  <a:pt x="9042" y="5765"/>
                  <a:pt x="8822" y="5765"/>
                </a:cubicBezTo>
                <a:cubicBezTo>
                  <a:pt x="8633" y="5765"/>
                  <a:pt x="8412" y="5545"/>
                  <a:pt x="8412" y="5356"/>
                </a:cubicBezTo>
                <a:lnTo>
                  <a:pt x="8412" y="4694"/>
                </a:lnTo>
                <a:lnTo>
                  <a:pt x="6617" y="6459"/>
                </a:lnTo>
                <a:cubicBezTo>
                  <a:pt x="6538" y="6537"/>
                  <a:pt x="6435" y="6577"/>
                  <a:pt x="6333" y="6577"/>
                </a:cubicBezTo>
                <a:cubicBezTo>
                  <a:pt x="6231" y="6577"/>
                  <a:pt x="6128" y="6537"/>
                  <a:pt x="6050" y="6459"/>
                </a:cubicBezTo>
                <a:lnTo>
                  <a:pt x="5482" y="5923"/>
                </a:lnTo>
                <a:lnTo>
                  <a:pt x="4096" y="7278"/>
                </a:lnTo>
                <a:cubicBezTo>
                  <a:pt x="4033" y="7356"/>
                  <a:pt x="3931" y="7396"/>
                  <a:pt x="3824" y="7396"/>
                </a:cubicBezTo>
                <a:cubicBezTo>
                  <a:pt x="3718" y="7396"/>
                  <a:pt x="3608" y="7356"/>
                  <a:pt x="3529" y="7278"/>
                </a:cubicBezTo>
                <a:cubicBezTo>
                  <a:pt x="3372" y="7120"/>
                  <a:pt x="3372" y="6868"/>
                  <a:pt x="3529" y="6711"/>
                </a:cubicBezTo>
                <a:lnTo>
                  <a:pt x="5167" y="5041"/>
                </a:lnTo>
                <a:cubicBezTo>
                  <a:pt x="5246" y="4962"/>
                  <a:pt x="5356" y="4923"/>
                  <a:pt x="5467" y="4923"/>
                </a:cubicBezTo>
                <a:cubicBezTo>
                  <a:pt x="5577" y="4923"/>
                  <a:pt x="5687" y="4962"/>
                  <a:pt x="5766" y="5041"/>
                </a:cubicBezTo>
                <a:lnTo>
                  <a:pt x="6302" y="5608"/>
                </a:lnTo>
                <a:lnTo>
                  <a:pt x="7814" y="4096"/>
                </a:lnTo>
                <a:lnTo>
                  <a:pt x="7152" y="4096"/>
                </a:lnTo>
                <a:cubicBezTo>
                  <a:pt x="6900" y="4096"/>
                  <a:pt x="6743" y="3907"/>
                  <a:pt x="6743" y="3655"/>
                </a:cubicBezTo>
                <a:cubicBezTo>
                  <a:pt x="6743" y="3434"/>
                  <a:pt x="6932" y="3277"/>
                  <a:pt x="7152" y="3277"/>
                </a:cubicBezTo>
                <a:close/>
                <a:moveTo>
                  <a:pt x="6302" y="11058"/>
                </a:moveTo>
                <a:cubicBezTo>
                  <a:pt x="6554" y="11058"/>
                  <a:pt x="6743" y="11279"/>
                  <a:pt x="6743" y="11468"/>
                </a:cubicBezTo>
                <a:cubicBezTo>
                  <a:pt x="6743" y="11657"/>
                  <a:pt x="6554" y="11846"/>
                  <a:pt x="6302" y="11846"/>
                </a:cubicBezTo>
                <a:cubicBezTo>
                  <a:pt x="6081" y="11846"/>
                  <a:pt x="5924" y="11657"/>
                  <a:pt x="5924" y="11468"/>
                </a:cubicBezTo>
                <a:cubicBezTo>
                  <a:pt x="5924" y="11279"/>
                  <a:pt x="6113" y="11058"/>
                  <a:pt x="6302" y="11058"/>
                </a:cubicBezTo>
                <a:close/>
                <a:moveTo>
                  <a:pt x="1229" y="0"/>
                </a:moveTo>
                <a:cubicBezTo>
                  <a:pt x="568" y="0"/>
                  <a:pt x="1" y="536"/>
                  <a:pt x="1" y="1229"/>
                </a:cubicBezTo>
                <a:cubicBezTo>
                  <a:pt x="1" y="1764"/>
                  <a:pt x="379" y="2205"/>
                  <a:pt x="851" y="2394"/>
                </a:cubicBezTo>
                <a:lnTo>
                  <a:pt x="851" y="8254"/>
                </a:lnTo>
                <a:lnTo>
                  <a:pt x="442" y="8254"/>
                </a:lnTo>
                <a:cubicBezTo>
                  <a:pt x="221" y="8254"/>
                  <a:pt x="64" y="8475"/>
                  <a:pt x="64" y="8664"/>
                </a:cubicBezTo>
                <a:cubicBezTo>
                  <a:pt x="64" y="8916"/>
                  <a:pt x="253" y="9042"/>
                  <a:pt x="442" y="9042"/>
                </a:cubicBezTo>
                <a:lnTo>
                  <a:pt x="5955" y="9042"/>
                </a:lnTo>
                <a:lnTo>
                  <a:pt x="5955" y="10239"/>
                </a:lnTo>
                <a:cubicBezTo>
                  <a:pt x="5482" y="10397"/>
                  <a:pt x="5136" y="10869"/>
                  <a:pt x="5136" y="11405"/>
                </a:cubicBezTo>
                <a:cubicBezTo>
                  <a:pt x="5136" y="12098"/>
                  <a:pt x="5671" y="12633"/>
                  <a:pt x="6365" y="12633"/>
                </a:cubicBezTo>
                <a:cubicBezTo>
                  <a:pt x="7026" y="12633"/>
                  <a:pt x="7625" y="12098"/>
                  <a:pt x="7625" y="11405"/>
                </a:cubicBezTo>
                <a:cubicBezTo>
                  <a:pt x="7625" y="10869"/>
                  <a:pt x="7247" y="10428"/>
                  <a:pt x="6774" y="10239"/>
                </a:cubicBezTo>
                <a:lnTo>
                  <a:pt x="6774" y="9042"/>
                </a:lnTo>
                <a:lnTo>
                  <a:pt x="12288" y="9042"/>
                </a:lnTo>
                <a:cubicBezTo>
                  <a:pt x="12540" y="9042"/>
                  <a:pt x="12697" y="8853"/>
                  <a:pt x="12697" y="8664"/>
                </a:cubicBezTo>
                <a:cubicBezTo>
                  <a:pt x="12666" y="8443"/>
                  <a:pt x="12508" y="8254"/>
                  <a:pt x="12256" y="8254"/>
                </a:cubicBezTo>
                <a:lnTo>
                  <a:pt x="11815" y="8254"/>
                </a:lnTo>
                <a:lnTo>
                  <a:pt x="11815" y="2394"/>
                </a:lnTo>
                <a:cubicBezTo>
                  <a:pt x="12288" y="2237"/>
                  <a:pt x="12666" y="1764"/>
                  <a:pt x="12666" y="1229"/>
                </a:cubicBezTo>
                <a:cubicBezTo>
                  <a:pt x="12666" y="567"/>
                  <a:pt x="12098" y="0"/>
                  <a:pt x="114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ECADBC11-AE64-4D0D-9F6F-D531AEC01E7E}"/>
              </a:ext>
            </a:extLst>
          </p:cNvPr>
          <p:cNvSpPr/>
          <p:nvPr/>
        </p:nvSpPr>
        <p:spPr>
          <a:xfrm>
            <a:off x="365760" y="123721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8D4B9FD9-0308-46ED-A077-91C7D8DF394C}"/>
              </a:ext>
            </a:extLst>
          </p:cNvPr>
          <p:cNvSpPr/>
          <p:nvPr/>
        </p:nvSpPr>
        <p:spPr>
          <a:xfrm>
            <a:off x="720000" y="1310362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₹81 L Cr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E5A3EDE9-7303-4D39-B48B-73891C033878}"/>
              </a:ext>
            </a:extLst>
          </p:cNvPr>
          <p:cNvSpPr/>
          <p:nvPr/>
        </p:nvSpPr>
        <p:spPr>
          <a:xfrm>
            <a:off x="448056" y="1785392"/>
            <a:ext cx="17830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Industry AUM</a:t>
            </a:r>
            <a:endParaRPr lang="en-US" sz="9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Dec 2025</a:t>
            </a:r>
            <a:endParaRPr lang="en-US" sz="9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CC0098BC-F99F-4AA2-8AB8-D56EC00D19A2}"/>
              </a:ext>
            </a:extLst>
          </p:cNvPr>
          <p:cNvSpPr/>
          <p:nvPr/>
        </p:nvSpPr>
        <p:spPr>
          <a:xfrm>
            <a:off x="2487168" y="123721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E99CA0B4-535A-481D-B167-20FE5A70545C}"/>
              </a:ext>
            </a:extLst>
          </p:cNvPr>
          <p:cNvSpPr/>
          <p:nvPr/>
        </p:nvSpPr>
        <p:spPr>
          <a:xfrm>
            <a:off x="2720340" y="1310362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₹31,002 Cr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204941B9-0E3C-466E-832A-F1501D783A66}"/>
              </a:ext>
            </a:extLst>
          </p:cNvPr>
          <p:cNvSpPr/>
          <p:nvPr/>
        </p:nvSpPr>
        <p:spPr>
          <a:xfrm>
            <a:off x="2569464" y="1785392"/>
            <a:ext cx="17830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Monthly SIP</a:t>
            </a:r>
            <a:endParaRPr lang="en-US" sz="9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All-time High</a:t>
            </a:r>
            <a:endParaRPr lang="en-US" sz="9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0F0A302C-1B44-469E-8FCB-B2C419FAA226}"/>
              </a:ext>
            </a:extLst>
          </p:cNvPr>
          <p:cNvSpPr/>
          <p:nvPr/>
        </p:nvSpPr>
        <p:spPr>
          <a:xfrm>
            <a:off x="4608576" y="123721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945B5E34-A032-4381-A42A-7FCFD5ECC218}"/>
              </a:ext>
            </a:extLst>
          </p:cNvPr>
          <p:cNvSpPr/>
          <p:nvPr/>
        </p:nvSpPr>
        <p:spPr>
          <a:xfrm>
            <a:off x="4962816" y="1310362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26.12 Cr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385E3CE9-E010-437F-987B-B15515C63C66}"/>
              </a:ext>
            </a:extLst>
          </p:cNvPr>
          <p:cNvSpPr/>
          <p:nvPr/>
        </p:nvSpPr>
        <p:spPr>
          <a:xfrm>
            <a:off x="4690872" y="1785392"/>
            <a:ext cx="17830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Total Folios</a:t>
            </a:r>
            <a:endParaRPr lang="en-US" sz="9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2x since 2022</a:t>
            </a:r>
            <a:endParaRPr lang="en-US" sz="9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91301F20-F184-4F07-95CD-B91D2CAA8F31}"/>
              </a:ext>
            </a:extLst>
          </p:cNvPr>
          <p:cNvSpPr/>
          <p:nvPr/>
        </p:nvSpPr>
        <p:spPr>
          <a:xfrm>
            <a:off x="6729984" y="123721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1B38806E-4298-4D4E-9B78-E65619BBE8D8}"/>
              </a:ext>
            </a:extLst>
          </p:cNvPr>
          <p:cNvSpPr/>
          <p:nvPr/>
        </p:nvSpPr>
        <p:spPr>
          <a:xfrm>
            <a:off x="7084224" y="1310362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9.35 Cr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8CF3E828-82E0-4AA3-BE90-DE21CE8C7214}"/>
              </a:ext>
            </a:extLst>
          </p:cNvPr>
          <p:cNvSpPr/>
          <p:nvPr/>
        </p:nvSpPr>
        <p:spPr>
          <a:xfrm>
            <a:off x="6812280" y="1785392"/>
            <a:ext cx="17830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Active SIP</a:t>
            </a:r>
            <a:endParaRPr lang="en-US" sz="9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Accounts</a:t>
            </a:r>
            <a:endParaRPr lang="en-US" sz="9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CB2B2159-49B4-48E2-9EDE-3D2648DA3194}"/>
              </a:ext>
            </a:extLst>
          </p:cNvPr>
          <p:cNvSpPr/>
          <p:nvPr/>
        </p:nvSpPr>
        <p:spPr>
          <a:xfrm>
            <a:off x="365760" y="2471650"/>
            <a:ext cx="8412480" cy="2422847"/>
          </a:xfrm>
          <a:prstGeom prst="roundRect">
            <a:avLst>
              <a:gd name="adj" fmla="val 2857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00C0703A-CE94-4D6F-B8A9-869DF629416B}"/>
              </a:ext>
            </a:extLst>
          </p:cNvPr>
          <p:cNvSpPr/>
          <p:nvPr/>
        </p:nvSpPr>
        <p:spPr>
          <a:xfrm>
            <a:off x="720000" y="2610635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chivo" panose="020B0604020202020204" charset="0"/>
                <a:ea typeface="Cambria" pitchFamily="34" charset="-122"/>
                <a:cs typeface="Archivo" panose="020B0604020202020204" charset="0"/>
              </a:rPr>
              <a:t>KEY EDA FINDINGS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B8B8BEC8-A1E2-4C24-877C-978E06A55511}"/>
              </a:ext>
            </a:extLst>
          </p:cNvPr>
          <p:cNvSpPr/>
          <p:nvPr/>
        </p:nvSpPr>
        <p:spPr>
          <a:xfrm>
            <a:off x="640080" y="3020290"/>
            <a:ext cx="7863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Clr>
                <a:schemeClr val="tx2">
                  <a:lumMod val="10000"/>
                </a:schemeClr>
              </a:buClr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SIP inflows grew 2.8x from Rs 11,000 Cr/month (Jan 2022) to Rs 31,002 Cr (Dec 2025)</a:t>
            </a:r>
            <a:endParaRPr lang="en-US" sz="11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  <a:p>
            <a:pPr marL="228600" indent="-228600">
              <a:spcAft>
                <a:spcPts val="400"/>
              </a:spcAft>
              <a:buClr>
                <a:schemeClr val="tx2">
                  <a:lumMod val="10000"/>
                </a:schemeClr>
              </a:buClr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SBI MF dominates with Rs 12.5L Cr AUM - nearly 15% of industry</a:t>
            </a:r>
            <a:endParaRPr lang="en-US" sz="11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  <a:p>
            <a:pPr marL="228600" indent="-228600">
              <a:spcAft>
                <a:spcPts val="400"/>
              </a:spcAft>
              <a:buClr>
                <a:schemeClr val="tx2">
                  <a:lumMod val="10000"/>
                </a:schemeClr>
              </a:buClr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Folios doubled from 13.26 Cr to 26.12 Cr - India's deepening equity culture</a:t>
            </a:r>
            <a:endParaRPr lang="en-US" sz="11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  <a:p>
            <a:pPr marL="228600" indent="-228600">
              <a:spcAft>
                <a:spcPts val="400"/>
              </a:spcAft>
              <a:buClr>
                <a:schemeClr val="tx2">
                  <a:lumMod val="10000"/>
                </a:schemeClr>
              </a:buClr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26-35 age group is largest SIP cohort; 46-55 group has highest avg ticket size</a:t>
            </a:r>
            <a:endParaRPr lang="en-US" sz="11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  <a:p>
            <a:pPr marL="228600" indent="-228600">
              <a:spcAft>
                <a:spcPts val="400"/>
              </a:spcAft>
              <a:buClr>
                <a:schemeClr val="tx2">
                  <a:lumMod val="10000"/>
                </a:schemeClr>
              </a:buClr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Maharashtra, Karnataka, Delhi contribute 50%+ of all SIP inflows</a:t>
            </a:r>
            <a:endParaRPr lang="en-US" sz="11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Archivo" panose="020B0604020202020204" charset="0"/>
                <a:cs typeface="Archivo" panose="020B0604020202020204" charset="0"/>
              </a:rPr>
              <a:t>EDA HIGHLIGHTS- FUND &amp; SECTOR ANALYSIS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213" name="Google Shape;213;p34"/>
          <p:cNvGrpSpPr/>
          <p:nvPr/>
        </p:nvGrpSpPr>
        <p:grpSpPr>
          <a:xfrm>
            <a:off x="6199809" y="1570875"/>
            <a:ext cx="194186" cy="276230"/>
            <a:chOff x="3342725" y="2620775"/>
            <a:chExt cx="338775" cy="481825"/>
          </a:xfrm>
        </p:grpSpPr>
        <p:sp>
          <p:nvSpPr>
            <p:cNvPr id="214" name="Google Shape;214;p34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215" name="Google Shape;215;p34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216" name="Google Shape;216;p34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Archivo" panose="020B0604020202020204" charset="0"/>
                <a:cs typeface="Archivo" panose="020B0604020202020204" charset="0"/>
              </a:endParaRPr>
            </a:p>
          </p:txBody>
        </p:sp>
      </p:grpSp>
      <p:grpSp>
        <p:nvGrpSpPr>
          <p:cNvPr id="217" name="Google Shape;217;p34"/>
          <p:cNvGrpSpPr/>
          <p:nvPr/>
        </p:nvGrpSpPr>
        <p:grpSpPr>
          <a:xfrm>
            <a:off x="3535285" y="1576168"/>
            <a:ext cx="286385" cy="265644"/>
            <a:chOff x="-62511900" y="4129100"/>
            <a:chExt cx="304050" cy="282000"/>
          </a:xfrm>
        </p:grpSpPr>
        <p:sp>
          <p:nvSpPr>
            <p:cNvPr id="218" name="Google Shape;218;p34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219" name="Google Shape;219;p34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220" name="Google Shape;220;p34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221" name="Google Shape;221;p34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222" name="Google Shape;222;p34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</p:grpSp>
      <p:grpSp>
        <p:nvGrpSpPr>
          <p:cNvPr id="223" name="Google Shape;223;p34"/>
          <p:cNvGrpSpPr/>
          <p:nvPr/>
        </p:nvGrpSpPr>
        <p:grpSpPr>
          <a:xfrm>
            <a:off x="909819" y="1563557"/>
            <a:ext cx="300466" cy="290866"/>
            <a:chOff x="-59447250" y="3706150"/>
            <a:chExt cx="319000" cy="308775"/>
          </a:xfrm>
        </p:grpSpPr>
        <p:sp>
          <p:nvSpPr>
            <p:cNvPr id="224" name="Google Shape;224;p34"/>
            <p:cNvSpPr/>
            <p:nvPr/>
          </p:nvSpPr>
          <p:spPr>
            <a:xfrm>
              <a:off x="-59381875" y="3922750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36"/>
                    <a:pt x="2363" y="0"/>
                    <a:pt x="1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225" name="Google Shape;225;p34"/>
            <p:cNvSpPr/>
            <p:nvPr/>
          </p:nvSpPr>
          <p:spPr>
            <a:xfrm>
              <a:off x="-59364550" y="3861525"/>
              <a:ext cx="43350" cy="40900"/>
            </a:xfrm>
            <a:custGeom>
              <a:avLst/>
              <a:gdLst/>
              <a:ahLst/>
              <a:cxnLst/>
              <a:rect l="l" t="t" r="r" b="b"/>
              <a:pathLst>
                <a:path w="1734" h="1636" extrusionOk="0">
                  <a:moveTo>
                    <a:pt x="858" y="0"/>
                  </a:moveTo>
                  <a:cubicBezTo>
                    <a:pt x="784" y="0"/>
                    <a:pt x="707" y="8"/>
                    <a:pt x="631" y="23"/>
                  </a:cubicBezTo>
                  <a:cubicBezTo>
                    <a:pt x="347" y="118"/>
                    <a:pt x="127" y="307"/>
                    <a:pt x="95" y="590"/>
                  </a:cubicBezTo>
                  <a:cubicBezTo>
                    <a:pt x="1" y="906"/>
                    <a:pt x="95" y="1189"/>
                    <a:pt x="284" y="1410"/>
                  </a:cubicBezTo>
                  <a:cubicBezTo>
                    <a:pt x="446" y="1548"/>
                    <a:pt x="658" y="1636"/>
                    <a:pt x="871" y="1636"/>
                  </a:cubicBezTo>
                  <a:cubicBezTo>
                    <a:pt x="949" y="1636"/>
                    <a:pt x="1027" y="1624"/>
                    <a:pt x="1103" y="1599"/>
                  </a:cubicBezTo>
                  <a:cubicBezTo>
                    <a:pt x="1387" y="1536"/>
                    <a:pt x="1607" y="1347"/>
                    <a:pt x="1670" y="1063"/>
                  </a:cubicBezTo>
                  <a:cubicBezTo>
                    <a:pt x="1733" y="748"/>
                    <a:pt x="1670" y="464"/>
                    <a:pt x="1450" y="244"/>
                  </a:cubicBezTo>
                  <a:cubicBezTo>
                    <a:pt x="1307" y="77"/>
                    <a:pt x="1091" y="0"/>
                    <a:pt x="8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226" name="Google Shape;226;p34"/>
            <p:cNvSpPr/>
            <p:nvPr/>
          </p:nvSpPr>
          <p:spPr>
            <a:xfrm>
              <a:off x="-59447250" y="3706150"/>
              <a:ext cx="319000" cy="308775"/>
            </a:xfrm>
            <a:custGeom>
              <a:avLst/>
              <a:gdLst/>
              <a:ahLst/>
              <a:cxnLst/>
              <a:rect l="l" t="t" r="r" b="b"/>
              <a:pathLst>
                <a:path w="12760" h="12351" extrusionOk="0">
                  <a:moveTo>
                    <a:pt x="6428" y="820"/>
                  </a:moveTo>
                  <a:cubicBezTo>
                    <a:pt x="6900" y="820"/>
                    <a:pt x="7247" y="1166"/>
                    <a:pt x="7247" y="1639"/>
                  </a:cubicBezTo>
                  <a:lnTo>
                    <a:pt x="7247" y="4128"/>
                  </a:lnTo>
                  <a:lnTo>
                    <a:pt x="5609" y="4128"/>
                  </a:lnTo>
                  <a:lnTo>
                    <a:pt x="5609" y="1639"/>
                  </a:lnTo>
                  <a:cubicBezTo>
                    <a:pt x="5609" y="1166"/>
                    <a:pt x="5955" y="820"/>
                    <a:pt x="6428" y="820"/>
                  </a:cubicBezTo>
                  <a:close/>
                  <a:moveTo>
                    <a:pt x="10681" y="6616"/>
                  </a:moveTo>
                  <a:cubicBezTo>
                    <a:pt x="10901" y="6616"/>
                    <a:pt x="11059" y="6805"/>
                    <a:pt x="11059" y="6994"/>
                  </a:cubicBezTo>
                  <a:cubicBezTo>
                    <a:pt x="11122" y="7247"/>
                    <a:pt x="10901" y="7436"/>
                    <a:pt x="10681" y="7436"/>
                  </a:cubicBezTo>
                  <a:lnTo>
                    <a:pt x="8192" y="7436"/>
                  </a:lnTo>
                  <a:cubicBezTo>
                    <a:pt x="7971" y="7436"/>
                    <a:pt x="7751" y="7247"/>
                    <a:pt x="7751" y="6994"/>
                  </a:cubicBezTo>
                  <a:cubicBezTo>
                    <a:pt x="7751" y="6742"/>
                    <a:pt x="7971" y="6616"/>
                    <a:pt x="8192" y="6616"/>
                  </a:cubicBezTo>
                  <a:close/>
                  <a:moveTo>
                    <a:pt x="10681" y="8255"/>
                  </a:moveTo>
                  <a:cubicBezTo>
                    <a:pt x="10901" y="8255"/>
                    <a:pt x="11059" y="8444"/>
                    <a:pt x="11059" y="8696"/>
                  </a:cubicBezTo>
                  <a:cubicBezTo>
                    <a:pt x="11122" y="8885"/>
                    <a:pt x="10901" y="9074"/>
                    <a:pt x="10681" y="9074"/>
                  </a:cubicBezTo>
                  <a:lnTo>
                    <a:pt x="8192" y="9074"/>
                  </a:lnTo>
                  <a:cubicBezTo>
                    <a:pt x="7971" y="9074"/>
                    <a:pt x="7751" y="8885"/>
                    <a:pt x="7751" y="8696"/>
                  </a:cubicBezTo>
                  <a:cubicBezTo>
                    <a:pt x="7751" y="8444"/>
                    <a:pt x="7971" y="8255"/>
                    <a:pt x="8192" y="8255"/>
                  </a:cubicBezTo>
                  <a:close/>
                  <a:moveTo>
                    <a:pt x="4233" y="5360"/>
                  </a:moveTo>
                  <a:cubicBezTo>
                    <a:pt x="4671" y="5360"/>
                    <a:pt x="5082" y="5531"/>
                    <a:pt x="5388" y="5860"/>
                  </a:cubicBezTo>
                  <a:cubicBezTo>
                    <a:pt x="5829" y="6301"/>
                    <a:pt x="5987" y="6868"/>
                    <a:pt x="5829" y="7467"/>
                  </a:cubicBezTo>
                  <a:cubicBezTo>
                    <a:pt x="5766" y="7751"/>
                    <a:pt x="5640" y="7971"/>
                    <a:pt x="5451" y="8192"/>
                  </a:cubicBezTo>
                  <a:cubicBezTo>
                    <a:pt x="6176" y="8601"/>
                    <a:pt x="6711" y="9389"/>
                    <a:pt x="6711" y="10334"/>
                  </a:cubicBezTo>
                  <a:cubicBezTo>
                    <a:pt x="6711" y="10555"/>
                    <a:pt x="6491" y="10744"/>
                    <a:pt x="6270" y="10744"/>
                  </a:cubicBezTo>
                  <a:lnTo>
                    <a:pt x="2143" y="10744"/>
                  </a:lnTo>
                  <a:cubicBezTo>
                    <a:pt x="1891" y="10744"/>
                    <a:pt x="1733" y="10555"/>
                    <a:pt x="1733" y="10303"/>
                  </a:cubicBezTo>
                  <a:cubicBezTo>
                    <a:pt x="1733" y="9357"/>
                    <a:pt x="2238" y="8570"/>
                    <a:pt x="3025" y="8129"/>
                  </a:cubicBezTo>
                  <a:cubicBezTo>
                    <a:pt x="2647" y="7688"/>
                    <a:pt x="2490" y="7121"/>
                    <a:pt x="2647" y="6553"/>
                  </a:cubicBezTo>
                  <a:cubicBezTo>
                    <a:pt x="2805" y="6018"/>
                    <a:pt x="3246" y="5577"/>
                    <a:pt x="3781" y="5419"/>
                  </a:cubicBezTo>
                  <a:cubicBezTo>
                    <a:pt x="3933" y="5379"/>
                    <a:pt x="4084" y="5360"/>
                    <a:pt x="4233" y="5360"/>
                  </a:cubicBezTo>
                  <a:close/>
                  <a:moveTo>
                    <a:pt x="10681" y="9893"/>
                  </a:moveTo>
                  <a:cubicBezTo>
                    <a:pt x="10901" y="9893"/>
                    <a:pt x="11059" y="10113"/>
                    <a:pt x="11059" y="10303"/>
                  </a:cubicBezTo>
                  <a:cubicBezTo>
                    <a:pt x="11122" y="10555"/>
                    <a:pt x="10901" y="10744"/>
                    <a:pt x="10681" y="10744"/>
                  </a:cubicBezTo>
                  <a:lnTo>
                    <a:pt x="8192" y="10744"/>
                  </a:lnTo>
                  <a:cubicBezTo>
                    <a:pt x="7971" y="10744"/>
                    <a:pt x="7751" y="10555"/>
                    <a:pt x="7751" y="10303"/>
                  </a:cubicBezTo>
                  <a:cubicBezTo>
                    <a:pt x="7751" y="10050"/>
                    <a:pt x="7971" y="9893"/>
                    <a:pt x="8192" y="9893"/>
                  </a:cubicBezTo>
                  <a:close/>
                  <a:moveTo>
                    <a:pt x="6396" y="0"/>
                  </a:moveTo>
                  <a:cubicBezTo>
                    <a:pt x="5483" y="0"/>
                    <a:pt x="4726" y="725"/>
                    <a:pt x="4726" y="1639"/>
                  </a:cubicBezTo>
                  <a:lnTo>
                    <a:pt x="4726" y="2458"/>
                  </a:lnTo>
                  <a:lnTo>
                    <a:pt x="1261" y="2458"/>
                  </a:lnTo>
                  <a:cubicBezTo>
                    <a:pt x="599" y="2458"/>
                    <a:pt x="1" y="3025"/>
                    <a:pt x="1" y="3686"/>
                  </a:cubicBezTo>
                  <a:lnTo>
                    <a:pt x="1" y="11122"/>
                  </a:lnTo>
                  <a:cubicBezTo>
                    <a:pt x="1" y="11815"/>
                    <a:pt x="568" y="12350"/>
                    <a:pt x="1261" y="12350"/>
                  </a:cubicBezTo>
                  <a:lnTo>
                    <a:pt x="11468" y="12350"/>
                  </a:lnTo>
                  <a:cubicBezTo>
                    <a:pt x="12130" y="12350"/>
                    <a:pt x="12697" y="11815"/>
                    <a:pt x="12697" y="11122"/>
                  </a:cubicBezTo>
                  <a:lnTo>
                    <a:pt x="12697" y="3686"/>
                  </a:lnTo>
                  <a:cubicBezTo>
                    <a:pt x="12760" y="3025"/>
                    <a:pt x="12162" y="2458"/>
                    <a:pt x="11500" y="2458"/>
                  </a:cubicBezTo>
                  <a:lnTo>
                    <a:pt x="8034" y="2458"/>
                  </a:lnTo>
                  <a:lnTo>
                    <a:pt x="8034" y="1639"/>
                  </a:lnTo>
                  <a:cubicBezTo>
                    <a:pt x="8034" y="725"/>
                    <a:pt x="7278" y="0"/>
                    <a:pt x="63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227" name="Google Shape;227;p34"/>
            <p:cNvSpPr/>
            <p:nvPr/>
          </p:nvSpPr>
          <p:spPr>
            <a:xfrm>
              <a:off x="-59293650" y="3740025"/>
              <a:ext cx="14175" cy="14200"/>
            </a:xfrm>
            <a:custGeom>
              <a:avLst/>
              <a:gdLst/>
              <a:ahLst/>
              <a:cxnLst/>
              <a:rect l="l" t="t" r="r" b="b"/>
              <a:pathLst>
                <a:path w="567" h="568" extrusionOk="0">
                  <a:moveTo>
                    <a:pt x="284" y="0"/>
                  </a:moveTo>
                  <a:cubicBezTo>
                    <a:pt x="126" y="0"/>
                    <a:pt x="0" y="126"/>
                    <a:pt x="0" y="284"/>
                  </a:cubicBezTo>
                  <a:cubicBezTo>
                    <a:pt x="0" y="441"/>
                    <a:pt x="126" y="567"/>
                    <a:pt x="284" y="567"/>
                  </a:cubicBezTo>
                  <a:cubicBezTo>
                    <a:pt x="441" y="567"/>
                    <a:pt x="567" y="441"/>
                    <a:pt x="567" y="284"/>
                  </a:cubicBezTo>
                  <a:cubicBezTo>
                    <a:pt x="567" y="126"/>
                    <a:pt x="441" y="0"/>
                    <a:pt x="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</p:grpSp>
      <p:sp>
        <p:nvSpPr>
          <p:cNvPr id="35" name="Shape 2">
            <a:extLst>
              <a:ext uri="{FF2B5EF4-FFF2-40B4-BE49-F238E27FC236}">
                <a16:creationId xmlns:a16="http://schemas.microsoft.com/office/drawing/2014/main" id="{1C895134-D621-4891-8A93-413BD4581458}"/>
              </a:ext>
            </a:extLst>
          </p:cNvPr>
          <p:cNvSpPr/>
          <p:nvPr/>
        </p:nvSpPr>
        <p:spPr>
          <a:xfrm>
            <a:off x="365760" y="131645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60034710-38A0-4349-89C2-B8FF32F82752}"/>
              </a:ext>
            </a:extLst>
          </p:cNvPr>
          <p:cNvSpPr/>
          <p:nvPr/>
        </p:nvSpPr>
        <p:spPr>
          <a:xfrm>
            <a:off x="548640" y="1426178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B20C7C53-F0F2-4060-B648-69CD3E3F2262}"/>
              </a:ext>
            </a:extLst>
          </p:cNvPr>
          <p:cNvSpPr/>
          <p:nvPr/>
        </p:nvSpPr>
        <p:spPr>
          <a:xfrm>
            <a:off x="1024128" y="142617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2023 Bull Run</a:t>
            </a:r>
            <a:endParaRPr lang="en-US" sz="14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512A80A4-232C-4FC7-BCEE-B5B8E523B07D}"/>
              </a:ext>
            </a:extLst>
          </p:cNvPr>
          <p:cNvSpPr/>
          <p:nvPr/>
        </p:nvSpPr>
        <p:spPr>
          <a:xfrm>
            <a:off x="548640" y="188337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All 40 equity funds recorded 20-35% NAV gains. Strongest year since fund inception for most large-cap schemes.</a:t>
            </a:r>
            <a:endParaRPr lang="en-US" sz="11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D104C078-CC17-43DD-AF0E-EA032EBC2341}"/>
              </a:ext>
            </a:extLst>
          </p:cNvPr>
          <p:cNvSpPr/>
          <p:nvPr/>
        </p:nvSpPr>
        <p:spPr>
          <a:xfrm>
            <a:off x="4663440" y="131645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0F0F7391-EDCA-49D4-BC77-D01F25ECBD77}"/>
              </a:ext>
            </a:extLst>
          </p:cNvPr>
          <p:cNvSpPr/>
          <p:nvPr/>
        </p:nvSpPr>
        <p:spPr>
          <a:xfrm>
            <a:off x="4846320" y="1426178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F7456896-CC95-4DC9-B148-A95329C84718}"/>
              </a:ext>
            </a:extLst>
          </p:cNvPr>
          <p:cNvSpPr/>
          <p:nvPr/>
        </p:nvSpPr>
        <p:spPr>
          <a:xfrm>
            <a:off x="5321808" y="142617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High Correlation</a:t>
            </a:r>
            <a:endParaRPr lang="en-US" sz="14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A7732934-F17C-4FA7-9F52-2C779A9C8339}"/>
              </a:ext>
            </a:extLst>
          </p:cNvPr>
          <p:cNvSpPr/>
          <p:nvPr/>
        </p:nvSpPr>
        <p:spPr>
          <a:xfrm>
            <a:off x="4846320" y="188337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NAV returns across large-cap funds show Pearson r &gt; 0.80, offering limited diversification when holding multiple large-caps.</a:t>
            </a:r>
            <a:endParaRPr lang="en-US" sz="11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74976B01-D573-4655-A77D-3D2DDCD734AD}"/>
              </a:ext>
            </a:extLst>
          </p:cNvPr>
          <p:cNvSpPr/>
          <p:nvPr/>
        </p:nvSpPr>
        <p:spPr>
          <a:xfrm>
            <a:off x="365760" y="314525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31A5E526-9F19-474D-92F9-EC054BFA5064}"/>
              </a:ext>
            </a:extLst>
          </p:cNvPr>
          <p:cNvSpPr/>
          <p:nvPr/>
        </p:nvSpPr>
        <p:spPr>
          <a:xfrm>
            <a:off x="548640" y="3254978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6B4A1FA3-AF80-455B-B4A4-7CD1FE7DBD1F}"/>
              </a:ext>
            </a:extLst>
          </p:cNvPr>
          <p:cNvSpPr/>
          <p:nvPr/>
        </p:nvSpPr>
        <p:spPr>
          <a:xfrm>
            <a:off x="1024128" y="325497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Sector Concentration</a:t>
            </a:r>
            <a:endParaRPr lang="en-US" sz="14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8ED353E8-AF99-467B-82C2-9243B99ABDA2}"/>
              </a:ext>
            </a:extLst>
          </p:cNvPr>
          <p:cNvSpPr/>
          <p:nvPr/>
        </p:nvSpPr>
        <p:spPr>
          <a:xfrm>
            <a:off x="548640" y="371217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Financial Services + IT = 40-45% of aggregate equity holdings. Systematic exposure to banking and tech cycles.</a:t>
            </a:r>
            <a:endParaRPr lang="en-US" sz="11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600F2EFC-97EE-4F85-9C9C-75377E44D5E4}"/>
              </a:ext>
            </a:extLst>
          </p:cNvPr>
          <p:cNvSpPr/>
          <p:nvPr/>
        </p:nvSpPr>
        <p:spPr>
          <a:xfrm>
            <a:off x="4663440" y="314525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9C42E0D5-1923-4604-A5D8-4F6191DD958B}"/>
              </a:ext>
            </a:extLst>
          </p:cNvPr>
          <p:cNvSpPr/>
          <p:nvPr/>
        </p:nvSpPr>
        <p:spPr>
          <a:xfrm>
            <a:off x="4846320" y="3254978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F696C3FA-2EB5-4F6B-816A-185390B7A942}"/>
              </a:ext>
            </a:extLst>
          </p:cNvPr>
          <p:cNvSpPr/>
          <p:nvPr/>
        </p:nvSpPr>
        <p:spPr>
          <a:xfrm>
            <a:off x="5321808" y="325497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2024 Correction</a:t>
            </a:r>
            <a:endParaRPr lang="en-US" sz="14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BB3E9C58-11DA-485B-A8CA-9DBEC19A5EDB}"/>
              </a:ext>
            </a:extLst>
          </p:cNvPr>
          <p:cNvSpPr/>
          <p:nvPr/>
        </p:nvSpPr>
        <p:spPr>
          <a:xfrm>
            <a:off x="4846320" y="371217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H1 2024 correction created entry opportunities. Funds with rolling Sharpe &gt; 1.5 recovered fastest by Q3 2024.</a:t>
            </a:r>
            <a:endParaRPr lang="en-US" sz="1100" dirty="0">
              <a:latin typeface="Archivo" panose="020B0604020202020204" charset="0"/>
              <a:cs typeface="Archivo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Archivo" panose="020B0604020202020204" charset="0"/>
                <a:cs typeface="Archivo" panose="020B0604020202020204" charset="0"/>
              </a:rPr>
              <a:t>PERFORMANCE ANALYTICS – </a:t>
            </a:r>
            <a:r>
              <a:rPr lang="en-IN" sz="1400" dirty="0">
                <a:latin typeface="Archivo" panose="020B0604020202020204" charset="0"/>
                <a:cs typeface="Archivo" panose="020B0604020202020204" charset="0"/>
              </a:rPr>
              <a:t>FORMULAS AND RESULTS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7FB85010-B95F-43A6-B040-62F80633DA82}"/>
              </a:ext>
            </a:extLst>
          </p:cNvPr>
          <p:cNvSpPr/>
          <p:nvPr/>
        </p:nvSpPr>
        <p:spPr>
          <a:xfrm>
            <a:off x="365760" y="128293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tx2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AE1A8453-91BE-438A-AEB4-4957F50A7F19}"/>
              </a:ext>
            </a:extLst>
          </p:cNvPr>
          <p:cNvSpPr/>
          <p:nvPr/>
        </p:nvSpPr>
        <p:spPr>
          <a:xfrm>
            <a:off x="530352" y="137437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CAGR (3YR)</a:t>
            </a:r>
            <a:endParaRPr lang="en-US" sz="1300" dirty="0">
              <a:solidFill>
                <a:schemeClr val="bg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F1505BF7-7767-4246-A157-144BD1BC07FA}"/>
              </a:ext>
            </a:extLst>
          </p:cNvPr>
          <p:cNvSpPr/>
          <p:nvPr/>
        </p:nvSpPr>
        <p:spPr>
          <a:xfrm>
            <a:off x="530352" y="166697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ourier New" pitchFamily="34" charset="-122"/>
                <a:cs typeface="Archivo" panose="020B0604020202020204" charset="0"/>
              </a:rPr>
              <a:t>(NAVend / NAVstart)^(252/n_days) - 1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6E71B0CB-DEA3-44E6-83E8-41E5B619DDBF}"/>
              </a:ext>
            </a:extLst>
          </p:cNvPr>
          <p:cNvSpPr/>
          <p:nvPr/>
        </p:nvSpPr>
        <p:spPr>
          <a:xfrm>
            <a:off x="530352" y="194129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Top funds: 14-19%  |  Nifty 100: ~12.8%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979531DF-8A8E-445C-A552-6896D39E7782}"/>
              </a:ext>
            </a:extLst>
          </p:cNvPr>
          <p:cNvSpPr/>
          <p:nvPr/>
        </p:nvSpPr>
        <p:spPr>
          <a:xfrm>
            <a:off x="4663440" y="128293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tx2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5BEB5EDC-17BD-452A-BB1A-C72395EB3424}"/>
              </a:ext>
            </a:extLst>
          </p:cNvPr>
          <p:cNvSpPr/>
          <p:nvPr/>
        </p:nvSpPr>
        <p:spPr>
          <a:xfrm>
            <a:off x="4828032" y="137437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SHARPE RATIO</a:t>
            </a:r>
            <a:endParaRPr lang="en-US" sz="1300" dirty="0">
              <a:solidFill>
                <a:schemeClr val="bg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CBBE6113-4B92-4C13-86BF-BD82EC56654D}"/>
              </a:ext>
            </a:extLst>
          </p:cNvPr>
          <p:cNvSpPr/>
          <p:nvPr/>
        </p:nvSpPr>
        <p:spPr>
          <a:xfrm>
            <a:off x="4828032" y="166697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ourier New" pitchFamily="34" charset="-122"/>
                <a:cs typeface="Archivo" panose="020B0604020202020204" charset="0"/>
              </a:rPr>
              <a:t>(Rp - Rf) / sigma_p x sqrt(252)  Rf=6.5%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83523C13-DA78-4F1E-A8D2-AAE579B8E607}"/>
              </a:ext>
            </a:extLst>
          </p:cNvPr>
          <p:cNvSpPr/>
          <p:nvPr/>
        </p:nvSpPr>
        <p:spPr>
          <a:xfrm>
            <a:off x="4828032" y="194129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Best funds Sharpe &gt; 1.5  |  Industry avg ~ 0.9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B3D85960-E06F-42D8-A6A3-39DC374A6828}"/>
              </a:ext>
            </a:extLst>
          </p:cNvPr>
          <p:cNvSpPr/>
          <p:nvPr/>
        </p:nvSpPr>
        <p:spPr>
          <a:xfrm>
            <a:off x="365760" y="2544802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tx2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FBA446B3-DBE5-4AFC-B2AF-90C766EF558D}"/>
              </a:ext>
            </a:extLst>
          </p:cNvPr>
          <p:cNvSpPr/>
          <p:nvPr/>
        </p:nvSpPr>
        <p:spPr>
          <a:xfrm>
            <a:off x="530352" y="263624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SORTINO</a:t>
            </a:r>
            <a:endParaRPr lang="en-US" sz="1300" dirty="0">
              <a:solidFill>
                <a:schemeClr val="bg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BC1DF897-C878-41DB-8F77-53B43B9B93E4}"/>
              </a:ext>
            </a:extLst>
          </p:cNvPr>
          <p:cNvSpPr/>
          <p:nvPr/>
        </p:nvSpPr>
        <p:spPr>
          <a:xfrm>
            <a:off x="530352" y="292885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ourier New" pitchFamily="34" charset="-122"/>
                <a:cs typeface="Archivo" panose="020B0604020202020204" charset="0"/>
              </a:rPr>
              <a:t>(Rp - Rf) / sigma_downside x sqrt(252)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CF1EB6F6-44B1-49C7-9654-54C4EFFAE578}"/>
              </a:ext>
            </a:extLst>
          </p:cNvPr>
          <p:cNvSpPr/>
          <p:nvPr/>
        </p:nvSpPr>
        <p:spPr>
          <a:xfrm>
            <a:off x="530352" y="320317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Always &gt;= Sharpe; gap shows upside vs downside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DA2FCE33-CFC6-4B9C-A61C-E3CD8FDD37F5}"/>
              </a:ext>
            </a:extLst>
          </p:cNvPr>
          <p:cNvSpPr/>
          <p:nvPr/>
        </p:nvSpPr>
        <p:spPr>
          <a:xfrm>
            <a:off x="4663440" y="2544802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tx2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C00E2CAD-C484-4D33-9575-2BFC1D8FD8DE}"/>
              </a:ext>
            </a:extLst>
          </p:cNvPr>
          <p:cNvSpPr/>
          <p:nvPr/>
        </p:nvSpPr>
        <p:spPr>
          <a:xfrm>
            <a:off x="4828032" y="263624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ALPHA (ANN.)</a:t>
            </a:r>
            <a:endParaRPr lang="en-US" sz="1300" dirty="0">
              <a:solidFill>
                <a:schemeClr val="bg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D68DA235-AECB-40E9-A415-D6D1E6EB622C}"/>
              </a:ext>
            </a:extLst>
          </p:cNvPr>
          <p:cNvSpPr/>
          <p:nvPr/>
        </p:nvSpPr>
        <p:spPr>
          <a:xfrm>
            <a:off x="4828032" y="292885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ourier New" pitchFamily="34" charset="-122"/>
                <a:cs typeface="Archivo" panose="020B0604020202020204" charset="0"/>
              </a:rPr>
              <a:t>OLS intercept x 252  vs  Nifty 100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F6DA1538-CFEE-44F4-8E9E-F8E932C0CBD5}"/>
              </a:ext>
            </a:extLst>
          </p:cNvPr>
          <p:cNvSpPr/>
          <p:nvPr/>
        </p:nvSpPr>
        <p:spPr>
          <a:xfrm>
            <a:off x="4828032" y="320317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Top alpha generators: 2-4% annualised above benchmark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4582BC41-E663-4168-ABFD-6AC902E83CFC}"/>
              </a:ext>
            </a:extLst>
          </p:cNvPr>
          <p:cNvSpPr/>
          <p:nvPr/>
        </p:nvSpPr>
        <p:spPr>
          <a:xfrm>
            <a:off x="365760" y="3806674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tx2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8BF5F19E-78B3-4A26-9F3D-B1AAD2CF7193}"/>
              </a:ext>
            </a:extLst>
          </p:cNvPr>
          <p:cNvSpPr/>
          <p:nvPr/>
        </p:nvSpPr>
        <p:spPr>
          <a:xfrm>
            <a:off x="530352" y="389811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BETA</a:t>
            </a:r>
            <a:endParaRPr lang="en-US" sz="1300" dirty="0">
              <a:solidFill>
                <a:schemeClr val="bg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945B527D-9626-49A4-8EFE-1447C4828DCE}"/>
              </a:ext>
            </a:extLst>
          </p:cNvPr>
          <p:cNvSpPr/>
          <p:nvPr/>
        </p:nvSpPr>
        <p:spPr>
          <a:xfrm>
            <a:off x="530352" y="419072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ourier New" pitchFamily="34" charset="-122"/>
                <a:cs typeface="Archivo" panose="020B0604020202020204" charset="0"/>
              </a:rPr>
              <a:t>Cov(Rfund, Rbench) / Var(Rbench)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D8FFAA08-FF88-437D-91F2-74B5AAAE40F9}"/>
              </a:ext>
            </a:extLst>
          </p:cNvPr>
          <p:cNvSpPr/>
          <p:nvPr/>
        </p:nvSpPr>
        <p:spPr>
          <a:xfrm>
            <a:off x="530352" y="446504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Large-cap: beta ~0.85-1.05  |  Small-cap: beta &gt; 1.1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C54219D9-5CA3-458F-B5F7-649A7BA94B4E}"/>
              </a:ext>
            </a:extLst>
          </p:cNvPr>
          <p:cNvSpPr/>
          <p:nvPr/>
        </p:nvSpPr>
        <p:spPr>
          <a:xfrm>
            <a:off x="4663440" y="3806674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tx2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32533E70-39B5-4B29-976C-3EB2148043BF}"/>
              </a:ext>
            </a:extLst>
          </p:cNvPr>
          <p:cNvSpPr/>
          <p:nvPr/>
        </p:nvSpPr>
        <p:spPr>
          <a:xfrm>
            <a:off x="4828032" y="389811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MAX DRAWDOWN</a:t>
            </a:r>
            <a:endParaRPr lang="en-US" sz="1300" dirty="0">
              <a:solidFill>
                <a:schemeClr val="bg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18D08A74-833E-42A3-9F2A-A4F6145CCF6B}"/>
              </a:ext>
            </a:extLst>
          </p:cNvPr>
          <p:cNvSpPr/>
          <p:nvPr/>
        </p:nvSpPr>
        <p:spPr>
          <a:xfrm>
            <a:off x="4828032" y="419072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ourier New" pitchFamily="34" charset="-122"/>
                <a:cs typeface="Archivo" panose="020B0604020202020204" charset="0"/>
              </a:rPr>
              <a:t>min(NAV / cummax(NAV) - 1)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8356A82B-4023-4880-B22C-CE627FC5DB7A}"/>
              </a:ext>
            </a:extLst>
          </p:cNvPr>
          <p:cNvSpPr/>
          <p:nvPr/>
        </p:nvSpPr>
        <p:spPr>
          <a:xfrm>
            <a:off x="4828032" y="446504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10000"/>
                  </a:schemeClr>
                </a:solidFill>
                <a:latin typeface="Archivo" panose="020B0604020202020204" charset="0"/>
                <a:ea typeface="Calibri" pitchFamily="34" charset="-122"/>
                <a:cs typeface="Archivo" panose="020B0604020202020204" charset="0"/>
              </a:rPr>
              <a:t>Worst drawdown: -28% to -35% during 2022 bear market</a:t>
            </a:r>
            <a:endParaRPr lang="en-US" sz="1000" dirty="0">
              <a:solidFill>
                <a:schemeClr val="tx2">
                  <a:lumMod val="1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title"/>
          </p:nvPr>
        </p:nvSpPr>
        <p:spPr>
          <a:xfrm>
            <a:off x="578995" y="154412"/>
            <a:ext cx="798601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INTERACTIVE DASHBOARD – </a:t>
            </a:r>
            <a:r>
              <a:rPr lang="en-IN" sz="2400" dirty="0"/>
              <a:t>POWER BI DESKTOP</a:t>
            </a:r>
            <a:endParaRPr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C9E344-E0CA-46F9-A3AB-573247620B57}"/>
              </a:ext>
            </a:extLst>
          </p:cNvPr>
          <p:cNvGrpSpPr/>
          <p:nvPr/>
        </p:nvGrpSpPr>
        <p:grpSpPr>
          <a:xfrm>
            <a:off x="792801" y="1085985"/>
            <a:ext cx="7558397" cy="589134"/>
            <a:chOff x="219761" y="233057"/>
            <a:chExt cx="8415396" cy="658368"/>
          </a:xfrm>
        </p:grpSpPr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66C19D1B-8F08-4829-93D6-563FC3E2DFC7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E70E5928-341E-4A5F-803B-DCF06D6B91BA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42" name="Text 9">
              <a:extLst>
                <a:ext uri="{FF2B5EF4-FFF2-40B4-BE49-F238E27FC236}">
                  <a16:creationId xmlns:a16="http://schemas.microsoft.com/office/drawing/2014/main" id="{5AE3C14E-9865-412B-9EC4-C1693DE205B3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43" name="Text 10">
              <a:extLst>
                <a:ext uri="{FF2B5EF4-FFF2-40B4-BE49-F238E27FC236}">
                  <a16:creationId xmlns:a16="http://schemas.microsoft.com/office/drawing/2014/main" id="{82EA1238-CE4D-49F5-89AE-5A3AB0789C8C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spc="300" dirty="0">
                  <a:solidFill>
                    <a:srgbClr val="0F19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 BI DESKTOP – INDUSTRIAL OVERVIEW PAGE</a:t>
              </a:r>
              <a:endParaRPr lang="en-US" sz="1300" spc="300" dirty="0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79A964DA-CEB1-499E-AB5B-F5665F79C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45" y="1842859"/>
            <a:ext cx="5593028" cy="30982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E149EB-AB2D-4B07-A020-0056E99EE67E}"/>
              </a:ext>
            </a:extLst>
          </p:cNvPr>
          <p:cNvGrpSpPr/>
          <p:nvPr/>
        </p:nvGrpSpPr>
        <p:grpSpPr>
          <a:xfrm>
            <a:off x="508842" y="179269"/>
            <a:ext cx="8126315" cy="658368"/>
            <a:chOff x="219761" y="233057"/>
            <a:chExt cx="8415396" cy="65836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175D6AF-48D3-4888-B5A8-83523538E2A3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112E886-563F-4F39-A172-BE7EF286BF73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9BC1B9C4-C46A-4BE2-8625-820F633C17CA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686B51F8-9E1B-4785-A5A3-F7EC3DFEDA0A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spc="300" dirty="0">
                  <a:solidFill>
                    <a:srgbClr val="0F19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 BI DESKTOP – FUND PEFORMANCE PAGE</a:t>
              </a:r>
              <a:endParaRPr lang="en-US" sz="1300" spc="300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3AC10D9-1568-4573-8AE7-7DEA91EC5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185" y="1025089"/>
            <a:ext cx="6743804" cy="380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4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E149EB-AB2D-4B07-A020-0056E99EE67E}"/>
              </a:ext>
            </a:extLst>
          </p:cNvPr>
          <p:cNvGrpSpPr/>
          <p:nvPr/>
        </p:nvGrpSpPr>
        <p:grpSpPr>
          <a:xfrm>
            <a:off x="508842" y="179269"/>
            <a:ext cx="8126315" cy="658368"/>
            <a:chOff x="219761" y="233057"/>
            <a:chExt cx="8415396" cy="65836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175D6AF-48D3-4888-B5A8-83523538E2A3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112E886-563F-4F39-A172-BE7EF286BF73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9BC1B9C4-C46A-4BE2-8625-820F633C17CA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686B51F8-9E1B-4785-A5A3-F7EC3DFEDA0A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spc="300" dirty="0">
                  <a:solidFill>
                    <a:srgbClr val="0F19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 BI DESKTOP – NAV DRILL THROUGH PAGE</a:t>
              </a:r>
              <a:endParaRPr lang="en-US" sz="1300" spc="30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75DB589-A115-41DD-9324-5F7F8A5AB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606" y="1025089"/>
            <a:ext cx="6508633" cy="382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60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E149EB-AB2D-4B07-A020-0056E99EE67E}"/>
              </a:ext>
            </a:extLst>
          </p:cNvPr>
          <p:cNvGrpSpPr/>
          <p:nvPr/>
        </p:nvGrpSpPr>
        <p:grpSpPr>
          <a:xfrm>
            <a:off x="508842" y="179269"/>
            <a:ext cx="8126315" cy="658368"/>
            <a:chOff x="219761" y="233057"/>
            <a:chExt cx="8415396" cy="65836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175D6AF-48D3-4888-B5A8-83523538E2A3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112E886-563F-4F39-A172-BE7EF286BF73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9BC1B9C4-C46A-4BE2-8625-820F633C17CA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686B51F8-9E1B-4785-A5A3-F7EC3DFEDA0A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spc="300" dirty="0">
                  <a:solidFill>
                    <a:srgbClr val="0F19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 BI DESKTOP – INVESTOR ANALYSIS PAGE</a:t>
              </a:r>
              <a:endParaRPr lang="en-US" sz="1300" spc="300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5CF9AD7-5C59-4AE6-A062-9B3970FCB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185" y="1081807"/>
            <a:ext cx="6564513" cy="388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69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E149EB-AB2D-4B07-A020-0056E99EE67E}"/>
              </a:ext>
            </a:extLst>
          </p:cNvPr>
          <p:cNvGrpSpPr/>
          <p:nvPr/>
        </p:nvGrpSpPr>
        <p:grpSpPr>
          <a:xfrm>
            <a:off x="508842" y="179269"/>
            <a:ext cx="8126315" cy="658368"/>
            <a:chOff x="219761" y="233057"/>
            <a:chExt cx="8415396" cy="65836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175D6AF-48D3-4888-B5A8-83523538E2A3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112E886-563F-4F39-A172-BE7EF286BF73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9BC1B9C4-C46A-4BE2-8625-820F633C17CA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686B51F8-9E1B-4785-A5A3-F7EC3DFEDA0A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spc="300" dirty="0">
                  <a:solidFill>
                    <a:srgbClr val="0F19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 BI DESKTOP – SIP &amp; MARKET TRENDS PAGE</a:t>
              </a:r>
              <a:endParaRPr lang="en-US" sz="1300" spc="300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3CF331E-B021-4F63-A36B-8AAC72318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60" y="1099719"/>
            <a:ext cx="6709116" cy="376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7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4">
            <a:extLst>
              <a:ext uri="{FF2B5EF4-FFF2-40B4-BE49-F238E27FC236}">
                <a16:creationId xmlns:a16="http://schemas.microsoft.com/office/drawing/2014/main" id="{B64F30E1-4DA8-4D25-8840-CC037588C6B9}"/>
              </a:ext>
            </a:extLst>
          </p:cNvPr>
          <p:cNvSpPr/>
          <p:nvPr/>
        </p:nvSpPr>
        <p:spPr>
          <a:xfrm>
            <a:off x="365760" y="2368450"/>
            <a:ext cx="8412480" cy="2422847"/>
          </a:xfrm>
          <a:prstGeom prst="roundRect">
            <a:avLst>
              <a:gd name="adj" fmla="val 2857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Google Shape;245;p36">
            <a:extLst>
              <a:ext uri="{FF2B5EF4-FFF2-40B4-BE49-F238E27FC236}">
                <a16:creationId xmlns:a16="http://schemas.microsoft.com/office/drawing/2014/main" id="{BCCF65BE-86D9-49C1-AC10-145D0EAF1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dirty="0"/>
              <a:t>BONUS DELIVERABLE – STREAMLIT WEB APP</a:t>
            </a: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8175D6AF-48D3-4888-B5A8-83523538E2A3}"/>
              </a:ext>
            </a:extLst>
          </p:cNvPr>
          <p:cNvSpPr/>
          <p:nvPr/>
        </p:nvSpPr>
        <p:spPr>
          <a:xfrm>
            <a:off x="1633625" y="1362610"/>
            <a:ext cx="614261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B112E886-563F-4F39-A172-BE7EF286BF73}"/>
              </a:ext>
            </a:extLst>
          </p:cNvPr>
          <p:cNvSpPr/>
          <p:nvPr/>
        </p:nvSpPr>
        <p:spPr>
          <a:xfrm>
            <a:off x="1633625" y="1362610"/>
            <a:ext cx="658368" cy="658368"/>
          </a:xfrm>
          <a:prstGeom prst="roundRect">
            <a:avLst>
              <a:gd name="adj" fmla="val 9722"/>
            </a:avLst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BC1B9C4-C46A-4BE2-8625-820F633C17CA}"/>
              </a:ext>
            </a:extLst>
          </p:cNvPr>
          <p:cNvSpPr/>
          <p:nvPr/>
        </p:nvSpPr>
        <p:spPr>
          <a:xfrm>
            <a:off x="1633625" y="152720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686B51F8-9E1B-4785-A5A3-F7EC3DFEDA0A}"/>
              </a:ext>
            </a:extLst>
          </p:cNvPr>
          <p:cNvSpPr/>
          <p:nvPr/>
        </p:nvSpPr>
        <p:spPr>
          <a:xfrm>
            <a:off x="2438297" y="143576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3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190E8508-1205-456B-A294-BBE6FED9FC7E}"/>
              </a:ext>
            </a:extLst>
          </p:cNvPr>
          <p:cNvSpPr/>
          <p:nvPr/>
        </p:nvSpPr>
        <p:spPr>
          <a:xfrm>
            <a:off x="2438297" y="171008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dark-themed dashboard with Plotly charts as Power BI alternative</a:t>
            </a:r>
            <a:endParaRPr lang="en-US" sz="10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5951C74-696D-40DA-9E87-A9D424875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288" y="2740715"/>
            <a:ext cx="7190712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chivo" panose="020B0604020202020204" charset="0"/>
              <a:cs typeface="Archivo" panose="020B060402020202020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Built with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Streamlit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 and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Plotly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; runs locally with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streamlit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 run dashboard/streamlit_app.py - no Power BI license needed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Four pages covering industry AUM trends, fund risk-return analysis, investor demographics, and SIP vs market performance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Reads directly from the cleaned CSV outputs of the ETL pipeline, with live filters for fund house, category, state, and year range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Dark-themed, fully responsive layout with branded KPI cards, bubble charts, heatmaps, and dual-axis trend charts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E149EB-AB2D-4B07-A020-0056E99EE67E}"/>
              </a:ext>
            </a:extLst>
          </p:cNvPr>
          <p:cNvGrpSpPr/>
          <p:nvPr/>
        </p:nvGrpSpPr>
        <p:grpSpPr>
          <a:xfrm>
            <a:off x="508842" y="179269"/>
            <a:ext cx="8126315" cy="658368"/>
            <a:chOff x="219761" y="233057"/>
            <a:chExt cx="8415396" cy="65836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175D6AF-48D3-4888-B5A8-83523538E2A3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112E886-563F-4F39-A172-BE7EF286BF73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9BC1B9C4-C46A-4BE2-8625-820F633C17CA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B2</a:t>
              </a:r>
              <a:endParaRPr lang="en-US" sz="12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686B51F8-9E1B-4785-A5A3-F7EC3DFEDA0A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spc="300" dirty="0">
                  <a:solidFill>
                    <a:srgbClr val="0F19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STREAMLIT WEB APP – INDUSTRIAL OVERVIEW PAGE</a:t>
              </a:r>
              <a:endParaRPr lang="en-US" sz="1300" spc="3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F5B68C3-49AB-4A6B-89C4-DADF77C18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42" y="1434947"/>
            <a:ext cx="8126315" cy="347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719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E149EB-AB2D-4B07-A020-0056E99EE67E}"/>
              </a:ext>
            </a:extLst>
          </p:cNvPr>
          <p:cNvGrpSpPr/>
          <p:nvPr/>
        </p:nvGrpSpPr>
        <p:grpSpPr>
          <a:xfrm>
            <a:off x="508842" y="179269"/>
            <a:ext cx="8126315" cy="658368"/>
            <a:chOff x="219761" y="233057"/>
            <a:chExt cx="8415396" cy="65836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175D6AF-48D3-4888-B5A8-83523538E2A3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112E886-563F-4F39-A172-BE7EF286BF73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9BC1B9C4-C46A-4BE2-8625-820F633C17CA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B2</a:t>
              </a:r>
              <a:endParaRPr lang="en-US" sz="12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686B51F8-9E1B-4785-A5A3-F7EC3DFEDA0A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spc="300" dirty="0">
                  <a:solidFill>
                    <a:srgbClr val="0F19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STREAMLIT WEB APP –FUND PEFORMANCE PAGE</a:t>
              </a:r>
              <a:endParaRPr lang="en-US" sz="1300" spc="300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A571D0C-D718-4810-84CD-AB4A7BA5D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42" y="1281090"/>
            <a:ext cx="8126314" cy="342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48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E149EB-AB2D-4B07-A020-0056E99EE67E}"/>
              </a:ext>
            </a:extLst>
          </p:cNvPr>
          <p:cNvGrpSpPr/>
          <p:nvPr/>
        </p:nvGrpSpPr>
        <p:grpSpPr>
          <a:xfrm>
            <a:off x="508842" y="179269"/>
            <a:ext cx="8126315" cy="658368"/>
            <a:chOff x="219761" y="233057"/>
            <a:chExt cx="8415396" cy="65836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175D6AF-48D3-4888-B5A8-83523538E2A3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112E886-563F-4F39-A172-BE7EF286BF73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9BC1B9C4-C46A-4BE2-8625-820F633C17CA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B2</a:t>
              </a:r>
              <a:endParaRPr lang="en-US" sz="12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686B51F8-9E1B-4785-A5A3-F7EC3DFEDA0A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spc="300" dirty="0">
                  <a:solidFill>
                    <a:srgbClr val="0F19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STREAMLIT WEB APP –INVESTOR ANALYSIS PAGE</a:t>
              </a:r>
              <a:endParaRPr lang="en-US" sz="1300" spc="30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57F4500-BB2D-48FF-BB6D-4D5287DC2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42" y="1217824"/>
            <a:ext cx="8126314" cy="355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18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E149EB-AB2D-4B07-A020-0056E99EE67E}"/>
              </a:ext>
            </a:extLst>
          </p:cNvPr>
          <p:cNvGrpSpPr/>
          <p:nvPr/>
        </p:nvGrpSpPr>
        <p:grpSpPr>
          <a:xfrm>
            <a:off x="508842" y="179269"/>
            <a:ext cx="8126315" cy="658368"/>
            <a:chOff x="219761" y="233057"/>
            <a:chExt cx="8415396" cy="65836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175D6AF-48D3-4888-B5A8-83523538E2A3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112E886-563F-4F39-A172-BE7EF286BF73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9BC1B9C4-C46A-4BE2-8625-820F633C17CA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B2</a:t>
              </a:r>
              <a:endParaRPr lang="en-US" sz="12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686B51F8-9E1B-4785-A5A3-F7EC3DFEDA0A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spc="300" dirty="0">
                  <a:solidFill>
                    <a:srgbClr val="0F19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STREAMLIT WEB APP –SIP &amp; MARKET TRENDS PAGE</a:t>
              </a:r>
              <a:endParaRPr lang="en-US" sz="1300" spc="30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2D1672B-6EF3-468E-BFEC-C526F2453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43" y="1419141"/>
            <a:ext cx="8126314" cy="335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04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4">
            <a:extLst>
              <a:ext uri="{FF2B5EF4-FFF2-40B4-BE49-F238E27FC236}">
                <a16:creationId xmlns:a16="http://schemas.microsoft.com/office/drawing/2014/main" id="{B64F30E1-4DA8-4D25-8840-CC037588C6B9}"/>
              </a:ext>
            </a:extLst>
          </p:cNvPr>
          <p:cNvSpPr/>
          <p:nvPr/>
        </p:nvSpPr>
        <p:spPr>
          <a:xfrm>
            <a:off x="365760" y="2194714"/>
            <a:ext cx="8412480" cy="2596583"/>
          </a:xfrm>
          <a:prstGeom prst="roundRect">
            <a:avLst>
              <a:gd name="adj" fmla="val 2857"/>
            </a:avLst>
          </a:prstGeom>
          <a:solidFill>
            <a:srgbClr val="D6C4B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Google Shape;245;p36">
            <a:extLst>
              <a:ext uri="{FF2B5EF4-FFF2-40B4-BE49-F238E27FC236}">
                <a16:creationId xmlns:a16="http://schemas.microsoft.com/office/drawing/2014/main" id="{BCCF65BE-86D9-49C1-AC10-145D0EAF1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dirty="0"/>
              <a:t>BONUS DELIVERABLE – AUTOMATED EMAIL</a:t>
            </a: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8175D6AF-48D3-4888-B5A8-83523538E2A3}"/>
              </a:ext>
            </a:extLst>
          </p:cNvPr>
          <p:cNvSpPr/>
          <p:nvPr/>
        </p:nvSpPr>
        <p:spPr>
          <a:xfrm>
            <a:off x="1633625" y="1362610"/>
            <a:ext cx="614261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B112E886-563F-4F39-A172-BE7EF286BF73}"/>
              </a:ext>
            </a:extLst>
          </p:cNvPr>
          <p:cNvSpPr/>
          <p:nvPr/>
        </p:nvSpPr>
        <p:spPr>
          <a:xfrm>
            <a:off x="1633625" y="1362610"/>
            <a:ext cx="658368" cy="658368"/>
          </a:xfrm>
          <a:prstGeom prst="roundRect">
            <a:avLst>
              <a:gd name="adj" fmla="val 9722"/>
            </a:avLst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BC1B9C4-C46A-4BE2-8625-820F633C17CA}"/>
              </a:ext>
            </a:extLst>
          </p:cNvPr>
          <p:cNvSpPr/>
          <p:nvPr/>
        </p:nvSpPr>
        <p:spPr>
          <a:xfrm>
            <a:off x="1633625" y="152720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686B51F8-9E1B-4785-A5A3-F7EC3DFEDA0A}"/>
              </a:ext>
            </a:extLst>
          </p:cNvPr>
          <p:cNvSpPr/>
          <p:nvPr/>
        </p:nvSpPr>
        <p:spPr>
          <a:xfrm>
            <a:off x="2476716" y="1527202"/>
            <a:ext cx="38779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HTML Email Report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5BFF9F-439C-4DD2-A0E1-F7D2D5097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1993" y="2011834"/>
            <a:ext cx="5593976" cy="1331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chivo" panose="020B0604020202020204" charset="0"/>
              <a:cs typeface="Archivo" panose="020B060402020202020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Reads live from cleaned CSVs  fully data-driven, zero hardcoding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Generates branded HTML with KPI cards, fund table and insights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Complete SMTP delivery block with Gmail TLS and weekly schedule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Browser preview confirms rendering before live email deployment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1F9E49-87A2-4CA8-9937-1810FA116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255" y="3408763"/>
            <a:ext cx="7728601" cy="1166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For email delivery, the script contains a complete SMTP configuration block using Python's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smtplib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 with Gmail TLS authentication. The schedule library triggers delivery every Monday at 08:00 automatically. Credentials are kept outside the codebase for security. During development, the report is previewed instantly by opening in the default browser  confirming accurate rendering before live deployment. </a:t>
            </a:r>
          </a:p>
        </p:txBody>
      </p:sp>
    </p:spTree>
    <p:extLst>
      <p:ext uri="{BB962C8B-B14F-4D97-AF65-F5344CB8AC3E}">
        <p14:creationId xmlns:p14="http://schemas.microsoft.com/office/powerpoint/2010/main" val="1179629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E149EB-AB2D-4B07-A020-0056E99EE67E}"/>
              </a:ext>
            </a:extLst>
          </p:cNvPr>
          <p:cNvGrpSpPr/>
          <p:nvPr/>
        </p:nvGrpSpPr>
        <p:grpSpPr>
          <a:xfrm>
            <a:off x="508842" y="179269"/>
            <a:ext cx="8126315" cy="658368"/>
            <a:chOff x="219761" y="233057"/>
            <a:chExt cx="8415396" cy="65836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175D6AF-48D3-4888-B5A8-83523538E2A3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112E886-563F-4F39-A172-BE7EF286BF73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9BC1B9C4-C46A-4BE2-8625-820F633C17CA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B2</a:t>
              </a:r>
              <a:endParaRPr lang="en-US" sz="12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686B51F8-9E1B-4785-A5A3-F7EC3DFEDA0A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IN" sz="1200" b="1" spc="300" dirty="0">
                  <a:latin typeface="Archivo" panose="020B0604020202020204" charset="0"/>
                  <a:ea typeface="Calibri" panose="020F0502020204030204" pitchFamily="34" charset="0"/>
                  <a:cs typeface="Archivo" panose="020B0604020202020204" charset="0"/>
                </a:rPr>
                <a:t>AUTOMATED HTML EMAIL REPORT</a:t>
              </a:r>
              <a:endParaRPr lang="en-US" b="1" spc="300" dirty="0">
                <a:latin typeface="Archivo" panose="020B0604020202020204" charset="0"/>
                <a:ea typeface="Calibri" panose="020F0502020204030204" pitchFamily="34" charset="0"/>
                <a:cs typeface="Archivo" panose="020B0604020202020204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7D1455D-740F-43C7-8516-8FEB72214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25" y="851353"/>
            <a:ext cx="3807073" cy="42128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F97308-A824-4E90-BEE0-ED659C6C3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836" y="918788"/>
            <a:ext cx="3176197" cy="407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3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E149EB-AB2D-4B07-A020-0056E99EE67E}"/>
              </a:ext>
            </a:extLst>
          </p:cNvPr>
          <p:cNvGrpSpPr/>
          <p:nvPr/>
        </p:nvGrpSpPr>
        <p:grpSpPr>
          <a:xfrm>
            <a:off x="508842" y="179269"/>
            <a:ext cx="8126315" cy="658368"/>
            <a:chOff x="219761" y="233057"/>
            <a:chExt cx="8415396" cy="658368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8175D6AF-48D3-4888-B5A8-83523538E2A3}"/>
                </a:ext>
              </a:extLst>
            </p:cNvPr>
            <p:cNvSpPr/>
            <p:nvPr/>
          </p:nvSpPr>
          <p:spPr>
            <a:xfrm>
              <a:off x="219762" y="233057"/>
              <a:ext cx="8415395" cy="658368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/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112E886-563F-4F39-A172-BE7EF286BF73}"/>
                </a:ext>
              </a:extLst>
            </p:cNvPr>
            <p:cNvSpPr/>
            <p:nvPr/>
          </p:nvSpPr>
          <p:spPr>
            <a:xfrm>
              <a:off x="219762" y="233057"/>
              <a:ext cx="660015" cy="658368"/>
            </a:xfrm>
            <a:prstGeom prst="roundRect">
              <a:avLst>
                <a:gd name="adj" fmla="val 9722"/>
              </a:avLst>
            </a:prstGeom>
            <a:solidFill>
              <a:schemeClr val="tx2">
                <a:lumMod val="75000"/>
              </a:schemeClr>
            </a:solidFill>
            <a:ln/>
          </p:spPr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9BC1B9C4-C46A-4BE2-8625-820F633C17CA}"/>
                </a:ext>
              </a:extLst>
            </p:cNvPr>
            <p:cNvSpPr/>
            <p:nvPr/>
          </p:nvSpPr>
          <p:spPr>
            <a:xfrm>
              <a:off x="219761" y="397649"/>
              <a:ext cx="66001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B2</a:t>
              </a:r>
              <a:endParaRPr lang="en-US" sz="12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686B51F8-9E1B-4785-A5A3-F7EC3DFEDA0A}"/>
                </a:ext>
              </a:extLst>
            </p:cNvPr>
            <p:cNvSpPr/>
            <p:nvPr/>
          </p:nvSpPr>
          <p:spPr>
            <a:xfrm>
              <a:off x="1064962" y="420509"/>
              <a:ext cx="6227186" cy="24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IN" sz="1200" b="1" spc="300" dirty="0">
                  <a:latin typeface="Archivo" panose="020B0604020202020204" charset="0"/>
                  <a:ea typeface="Calibri" panose="020F0502020204030204" pitchFamily="34" charset="0"/>
                  <a:cs typeface="Archivo" panose="020B0604020202020204" charset="0"/>
                </a:rPr>
                <a:t>AUTOMATED HTML EMAIL REPORT</a:t>
              </a:r>
              <a:endParaRPr lang="en-US" b="1" spc="300" dirty="0">
                <a:latin typeface="Archivo" panose="020B0604020202020204" charset="0"/>
                <a:ea typeface="Calibri" panose="020F0502020204030204" pitchFamily="34" charset="0"/>
                <a:cs typeface="Archivo" panose="020B060402020202020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A6FA97D-B6D7-43D9-B33C-F83B838DA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42" y="1082593"/>
            <a:ext cx="7556715" cy="356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30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5;p36">
            <a:extLst>
              <a:ext uri="{FF2B5EF4-FFF2-40B4-BE49-F238E27FC236}">
                <a16:creationId xmlns:a16="http://schemas.microsoft.com/office/drawing/2014/main" id="{A2FD0A67-FF16-44F2-A7B8-79A6DD3C6411}"/>
              </a:ext>
            </a:extLst>
          </p:cNvPr>
          <p:cNvSpPr txBox="1">
            <a:spLocks/>
          </p:cNvSpPr>
          <p:nvPr/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chivo"/>
              <a:buNone/>
              <a:defRPr sz="6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chivo"/>
              <a:buNone/>
              <a:defRPr sz="9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chivo"/>
              <a:buNone/>
              <a:defRPr sz="9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chivo"/>
              <a:buNone/>
              <a:defRPr sz="9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chivo"/>
              <a:buNone/>
              <a:defRPr sz="9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chivo"/>
              <a:buNone/>
              <a:defRPr sz="9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chivo"/>
              <a:buNone/>
              <a:defRPr sz="9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chivo"/>
              <a:buNone/>
              <a:defRPr sz="9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chivo"/>
              <a:buNone/>
              <a:defRPr sz="9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algn="ctr"/>
            <a:r>
              <a:rPr lang="en-IN" sz="2500" dirty="0"/>
              <a:t>KEY FINDINGS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2F3EF860-EE76-4FBC-B8E4-D515370B7670}"/>
              </a:ext>
            </a:extLst>
          </p:cNvPr>
          <p:cNvSpPr/>
          <p:nvPr/>
        </p:nvSpPr>
        <p:spPr>
          <a:xfrm>
            <a:off x="871526" y="1267968"/>
            <a:ext cx="7400948" cy="658368"/>
          </a:xfrm>
          <a:prstGeom prst="roundRect">
            <a:avLst>
              <a:gd name="adj" fmla="val 9722"/>
            </a:avLst>
          </a:prstGeom>
          <a:solidFill>
            <a:schemeClr val="tx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719B4BFD-8702-461E-BF41-E7F42D64BC6F}"/>
              </a:ext>
            </a:extLst>
          </p:cNvPr>
          <p:cNvSpPr/>
          <p:nvPr/>
        </p:nvSpPr>
        <p:spPr>
          <a:xfrm>
            <a:off x="871636" y="1267968"/>
            <a:ext cx="54864" cy="65836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</a:schemeClr>
          </a:solidFill>
          <a:ln/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232657A7-376E-4455-ABE0-6BFFE992A98A}"/>
              </a:ext>
            </a:extLst>
          </p:cNvPr>
          <p:cNvSpPr/>
          <p:nvPr/>
        </p:nvSpPr>
        <p:spPr>
          <a:xfrm>
            <a:off x="1100126" y="1341120"/>
            <a:ext cx="176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E592AB5-6201-4458-9049-166DC6F6C8DE}"/>
              </a:ext>
            </a:extLst>
          </p:cNvPr>
          <p:cNvSpPr/>
          <p:nvPr/>
        </p:nvSpPr>
        <p:spPr>
          <a:xfrm>
            <a:off x="1100126" y="1626108"/>
            <a:ext cx="69987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crossed Rs 31,002 Cr - 2.8x growth since 2022, driven by youth investors aged 26-35.</a:t>
            </a:r>
            <a:endParaRPr lang="en-US" sz="1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71637070-48E1-41BD-AEEF-16D80A8150F7}"/>
              </a:ext>
            </a:extLst>
          </p:cNvPr>
          <p:cNvSpPr/>
          <p:nvPr/>
        </p:nvSpPr>
        <p:spPr>
          <a:xfrm>
            <a:off x="871526" y="2017776"/>
            <a:ext cx="7400948" cy="658368"/>
          </a:xfrm>
          <a:prstGeom prst="roundRect">
            <a:avLst>
              <a:gd name="adj" fmla="val 9722"/>
            </a:avLst>
          </a:prstGeom>
          <a:solidFill>
            <a:schemeClr val="tx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1C475971-72E3-4050-86F1-13DE6E1A9AB9}"/>
              </a:ext>
            </a:extLst>
          </p:cNvPr>
          <p:cNvSpPr/>
          <p:nvPr/>
        </p:nvSpPr>
        <p:spPr>
          <a:xfrm>
            <a:off x="871636" y="2017776"/>
            <a:ext cx="54864" cy="65836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</a:schemeClr>
          </a:solidFill>
          <a:ln/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2C65E32-49E1-4F99-AC6A-75BC5838ED6A}"/>
              </a:ext>
            </a:extLst>
          </p:cNvPr>
          <p:cNvSpPr/>
          <p:nvPr/>
        </p:nvSpPr>
        <p:spPr>
          <a:xfrm>
            <a:off x="1100126" y="2090928"/>
            <a:ext cx="176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2DCA70FD-DB16-458A-8275-1E38615DD4CD}"/>
              </a:ext>
            </a:extLst>
          </p:cNvPr>
          <p:cNvSpPr/>
          <p:nvPr/>
        </p:nvSpPr>
        <p:spPr>
          <a:xfrm>
            <a:off x="1100126" y="2375916"/>
            <a:ext cx="69987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Bluechip, HDFC Top 100, and ICICI Pru Bluechip lead on composite scorecard with Sharpe &gt; 1.4.</a:t>
            </a:r>
            <a:endParaRPr lang="en-US" sz="1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EDA65855-A071-459C-9991-111A1E1B20E5}"/>
              </a:ext>
            </a:extLst>
          </p:cNvPr>
          <p:cNvSpPr/>
          <p:nvPr/>
        </p:nvSpPr>
        <p:spPr>
          <a:xfrm>
            <a:off x="871526" y="2767584"/>
            <a:ext cx="7400948" cy="658368"/>
          </a:xfrm>
          <a:prstGeom prst="roundRect">
            <a:avLst>
              <a:gd name="adj" fmla="val 9722"/>
            </a:avLst>
          </a:prstGeom>
          <a:solidFill>
            <a:schemeClr val="tx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1F23AFDB-ACC5-4A38-8B7D-CC4E5E516CF5}"/>
              </a:ext>
            </a:extLst>
          </p:cNvPr>
          <p:cNvSpPr/>
          <p:nvPr/>
        </p:nvSpPr>
        <p:spPr>
          <a:xfrm>
            <a:off x="871636" y="2767584"/>
            <a:ext cx="54864" cy="65836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</a:schemeClr>
          </a:solidFill>
          <a:ln/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5811DCA-40FE-4673-B2BB-ADC78F27B25D}"/>
              </a:ext>
            </a:extLst>
          </p:cNvPr>
          <p:cNvSpPr/>
          <p:nvPr/>
        </p:nvSpPr>
        <p:spPr>
          <a:xfrm>
            <a:off x="1100126" y="2840736"/>
            <a:ext cx="176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INVESTORS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1811CFD2-56D1-42A0-AB8C-C94AAB290C35}"/>
              </a:ext>
            </a:extLst>
          </p:cNvPr>
          <p:cNvSpPr/>
          <p:nvPr/>
        </p:nvSpPr>
        <p:spPr>
          <a:xfrm>
            <a:off x="1100126" y="3125724"/>
            <a:ext cx="69987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active SIP investors show avg gaps &gt; 35 days - automated nudges could reduce churn.</a:t>
            </a:r>
            <a:endParaRPr lang="en-US" sz="1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A072630D-FD8D-44B5-ABF0-521C981BEA39}"/>
              </a:ext>
            </a:extLst>
          </p:cNvPr>
          <p:cNvSpPr/>
          <p:nvPr/>
        </p:nvSpPr>
        <p:spPr>
          <a:xfrm>
            <a:off x="871526" y="3517392"/>
            <a:ext cx="7400948" cy="658368"/>
          </a:xfrm>
          <a:prstGeom prst="roundRect">
            <a:avLst>
              <a:gd name="adj" fmla="val 9722"/>
            </a:avLst>
          </a:prstGeom>
          <a:solidFill>
            <a:schemeClr val="tx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91498F42-8F89-4315-A0F4-9404949EA60B}"/>
              </a:ext>
            </a:extLst>
          </p:cNvPr>
          <p:cNvSpPr/>
          <p:nvPr/>
        </p:nvSpPr>
        <p:spPr>
          <a:xfrm>
            <a:off x="871636" y="3517392"/>
            <a:ext cx="54864" cy="65836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</a:schemeClr>
          </a:solidFill>
          <a:ln/>
        </p:spPr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EB0E07E8-EE17-4033-91B6-D09266095B04}"/>
              </a:ext>
            </a:extLst>
          </p:cNvPr>
          <p:cNvSpPr/>
          <p:nvPr/>
        </p:nvSpPr>
        <p:spPr>
          <a:xfrm>
            <a:off x="1100126" y="3590544"/>
            <a:ext cx="176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7C8BC0F7-8213-4255-BFC1-46887A33B269}"/>
              </a:ext>
            </a:extLst>
          </p:cNvPr>
          <p:cNvSpPr/>
          <p:nvPr/>
        </p:nvSpPr>
        <p:spPr>
          <a:xfrm>
            <a:off x="1100126" y="3875532"/>
            <a:ext cx="69987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return correlation across large-cap funds (r &gt; 0.80) - adding mid-cap or debt improves diversification.</a:t>
            </a:r>
            <a:endParaRPr lang="en-US" sz="1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AFDA4017-F12A-44D7-8671-C429875A79BD}"/>
              </a:ext>
            </a:extLst>
          </p:cNvPr>
          <p:cNvSpPr/>
          <p:nvPr/>
        </p:nvSpPr>
        <p:spPr>
          <a:xfrm>
            <a:off x="871526" y="4267200"/>
            <a:ext cx="7400948" cy="658368"/>
          </a:xfrm>
          <a:prstGeom prst="roundRect">
            <a:avLst>
              <a:gd name="adj" fmla="val 9722"/>
            </a:avLst>
          </a:prstGeom>
          <a:solidFill>
            <a:schemeClr val="tx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C3C28032-6987-4950-B8F2-6027637A6ED1}"/>
              </a:ext>
            </a:extLst>
          </p:cNvPr>
          <p:cNvSpPr/>
          <p:nvPr/>
        </p:nvSpPr>
        <p:spPr>
          <a:xfrm>
            <a:off x="871636" y="4267200"/>
            <a:ext cx="54864" cy="65836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</a:schemeClr>
          </a:solidFill>
          <a:ln/>
        </p:spPr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EE4E7DC1-FD52-4B54-BCE9-498D23149CC0}"/>
              </a:ext>
            </a:extLst>
          </p:cNvPr>
          <p:cNvSpPr/>
          <p:nvPr/>
        </p:nvSpPr>
        <p:spPr>
          <a:xfrm>
            <a:off x="1100126" y="4340352"/>
            <a:ext cx="176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22EC0209-B36B-4094-9DCF-A45D9869E059}"/>
              </a:ext>
            </a:extLst>
          </p:cNvPr>
          <p:cNvSpPr/>
          <p:nvPr/>
        </p:nvSpPr>
        <p:spPr>
          <a:xfrm>
            <a:off x="1100126" y="4614672"/>
            <a:ext cx="69987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Low-risk: SBI Bluechip or HDFC Top 100. Moderate: Flexi-cap. High: Mid/small-cap with 5yr+ horizon.</a:t>
            </a:r>
            <a:endParaRPr lang="en-US" sz="1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2C073A-C4F5-4A00-B40B-2BE14AB7B737}"/>
              </a:ext>
            </a:extLst>
          </p:cNvPr>
          <p:cNvSpPr/>
          <p:nvPr/>
        </p:nvSpPr>
        <p:spPr>
          <a:xfrm>
            <a:off x="3649916" y="768403"/>
            <a:ext cx="6400800" cy="46488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B2D734-C4A2-48F7-B25A-34CC0ADED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4597"/>
            <a:ext cx="6541413" cy="1373041"/>
          </a:xfrm>
        </p:spPr>
        <p:txBody>
          <a:bodyPr/>
          <a:lstStyle/>
          <a:p>
            <a:r>
              <a:rPr lang="en-IN" sz="6600" spc="600" dirty="0"/>
              <a:t> THANKYOU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F9A6FF5-5C38-4820-8FE8-942D88DCB9F4}"/>
              </a:ext>
            </a:extLst>
          </p:cNvPr>
          <p:cNvSpPr/>
          <p:nvPr/>
        </p:nvSpPr>
        <p:spPr>
          <a:xfrm>
            <a:off x="6356005" y="3493832"/>
            <a:ext cx="176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SHEVANIGA S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cial Market Economy Proposal by Slidesgo">
  <a:themeElements>
    <a:clrScheme name="Simple Light">
      <a:dk1>
        <a:srgbClr val="191919"/>
      </a:dk1>
      <a:lt1>
        <a:srgbClr val="FFFFFF"/>
      </a:lt1>
      <a:dk2>
        <a:srgbClr val="EDEDE9"/>
      </a:dk2>
      <a:lt2>
        <a:srgbClr val="D6CC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1006</Words>
  <Application>Microsoft Office PowerPoint</Application>
  <PresentationFormat>On-screen Show (16:9)</PresentationFormat>
  <Paragraphs>167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Calibri</vt:lpstr>
      <vt:lpstr>Courier New</vt:lpstr>
      <vt:lpstr>Arial</vt:lpstr>
      <vt:lpstr>Cambria</vt:lpstr>
      <vt:lpstr>Archivo</vt:lpstr>
      <vt:lpstr>Anaheim</vt:lpstr>
      <vt:lpstr>Raleway</vt:lpstr>
      <vt:lpstr>PT Sans</vt:lpstr>
      <vt:lpstr>Open Sans</vt:lpstr>
      <vt:lpstr>Social Market Economy Proposal by Slidesgo</vt:lpstr>
      <vt:lpstr>MUTUAL FUND ANALYTICS PLATFORM</vt:lpstr>
      <vt:lpstr>PROBLEM STATEMENT AND OBJECTIVE</vt:lpstr>
      <vt:lpstr>DATA SOURCES AND DATASETS</vt:lpstr>
      <vt:lpstr>SYSTEM ARCHITECTURE ETL PIPELINE</vt:lpstr>
      <vt:lpstr>EDA HIGHLIGHTS – INDUSTRY &amp; SIP TRENDS</vt:lpstr>
      <vt:lpstr>EDA HIGHLIGHTS- FUND &amp; SECTOR ANALYSIS</vt:lpstr>
      <vt:lpstr>PERFORMANCE ANALYTICS – FORMULAS AND RESULTS</vt:lpstr>
      <vt:lpstr>INTERACTIVE DASHBOARD – POWER BI DESKTOP</vt:lpstr>
      <vt:lpstr>PowerPoint Presentation</vt:lpstr>
      <vt:lpstr>PowerPoint Presentation</vt:lpstr>
      <vt:lpstr>PowerPoint Presentation</vt:lpstr>
      <vt:lpstr>PowerPoint Presentation</vt:lpstr>
      <vt:lpstr>BONUS DELIVERABLE – STREAMLIT WEB APP</vt:lpstr>
      <vt:lpstr>PowerPoint Presentation</vt:lpstr>
      <vt:lpstr>PowerPoint Presentation</vt:lpstr>
      <vt:lpstr>PowerPoint Presentation</vt:lpstr>
      <vt:lpstr>PowerPoint Presentation</vt:lpstr>
      <vt:lpstr>BONUS DELIVERABLE – AUTOMATED EMAIL</vt:lpstr>
      <vt:lpstr>PowerPoint Presentation</vt:lpstr>
      <vt:lpstr>PowerPoint Presentation</vt:lpstr>
      <vt:lpstr>PowerPoint Presentation</vt:lpstr>
      <vt:lpstr> 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creator>HP</dc:creator>
  <cp:lastModifiedBy>HP</cp:lastModifiedBy>
  <cp:revision>9</cp:revision>
  <dcterms:modified xsi:type="dcterms:W3CDTF">2026-06-11T19:19:20Z</dcterms:modified>
</cp:coreProperties>
</file>